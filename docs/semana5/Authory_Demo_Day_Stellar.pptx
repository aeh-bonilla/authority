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SPEECH DEL ORADOR ===</a:t>
            </a:r>
          </a:p>
          <a:p/>
          <a:p>
            <a:r>
              <a:t>«Buenas tardes a todos. Mi nombre es [Tu Nombre], y hoy venimos a presentarles Authory: la infraestructura sobre la red Stellar para que los creadores independientes certifiquen su autoría y comercialicen sus derechos con total certeza.»</a:t>
            </a:r>
          </a:p>
          <a:p/>
          <a:p>
            <a:r>
              <a:t>=== NOTAS TÉCNICAS Y OPERATIVAS ===</a:t>
            </a:r>
          </a:p>
          <a:p/>
          <a:p>
            <a:r>
              <a:t>PANTALLA: Portada institucional con look &amp; feel brutalista.</a:t>
            </a:r>
          </a:p>
          <a:p>
            <a:r>
              <a:t>DRIVER: Comprueba pantalla completa, volumen y tiene la demo lista en otra pestaña.</a:t>
            </a:r>
          </a:p>
          <a:p>
            <a:r>
              <a:t>PLAN B: Si el proyector falla, recargar.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SPEECH DEL ORADOR ===</a:t>
            </a:r>
          </a:p>
          <a:p/>
          <a:p>
            <a:r>
              <a:t>«Les presento a Mateo. Mateo es un ilustrador independiente en Medellín. Hace tres meses invirtió semanas creando un set de personajes para una agencia. Entregó bocetos por correo y, cuando cancelaron el encargo aduciendo recorte de presupuesto, vio sus ilustraciones en vallas publicitarias sin su firma y sin un peso de regalías.</a:t>
            </a:r>
          </a:p>
          <a:p/>
          <a:p>
            <a:r>
              <a:t>El caso de Mateo no es aislado: según la Freelancers Union, más del 71% de los creadores independientes sufren impago o plagio. ¿Por qué no reclaman? Porque hoy sus únicas pruebas son fechas locales de archivos o cadenas de correos que cualquier peritaje descarta. Reclamar cuesta más que el proyecto.»</a:t>
            </a:r>
          </a:p>
          <a:p/>
          <a:p>
            <a:r>
              <a:t>=== NOTAS TÉCNICAS Y OPERATIVAS ===</a:t>
            </a:r>
          </a:p>
          <a:p/>
          <a:p>
            <a:r>
              <a:t>PANTALLA: Ficha de Mateo y el 71% en grande.</a:t>
            </a:r>
          </a:p>
          <a:p>
            <a:r>
              <a:t>DRIVER: Mira al público, atento al ritmo del narrador.</a:t>
            </a:r>
          </a:p>
          <a:p>
            <a:r>
              <a:t>PLAN B: Fuente verificable: Reporte WIPO y Freelancers Union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SPEECH DEL ORADOR ===</a:t>
            </a:r>
          </a:p>
          <a:p/>
          <a:p>
            <a:r>
              <a:t>«Aquí intervienen dos partes con una fricción mutua: Mateo necesita una prueba de existencia inmutable desde el minuto cero; y del otro lado, las editoriales y compradores honestos necesitan comprobar en cinco segundos que quien les ofrece una obra tiene la titularidad legítima para licenciarla, sin tener que esperar semanas de trámites notariales.»</a:t>
            </a:r>
          </a:p>
          <a:p/>
          <a:p>
            <a:r>
              <a:t>=== NOTAS TÉCNICAS Y OPERATIVAS ===</a:t>
            </a:r>
          </a:p>
          <a:p/>
          <a:p>
            <a:r>
              <a:t>PANTALLA: Comparativa Mateo vs Editorial.</a:t>
            </a:r>
          </a:p>
          <a:p>
            <a:r>
              <a:t>DRIVER: Confirma que la pestaña de la demo esté lista en `authority-khaki.vercel.app`.</a:t>
            </a:r>
          </a:p>
          <a:p>
            <a:r>
              <a:t>PLAN B: Tener `localhost:3000` listo por si falla la conexión wifi.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SPEECH DEL ORADOR ===</a:t>
            </a:r>
          </a:p>
          <a:p/>
          <a:p>
            <a:r>
              <a:t>«Para resolver esta asimetría y devolverle el control a los creadores, construimos Authory.</a:t>
            </a:r>
          </a:p>
          <a:p>
            <a:r>
              <a:t>Para ilustradores como Mateo, Authory permite generar un pasaporte digital y un sello temporal inmutable en Stellar manteniendo el archivo original estrictamente confidencial.</a:t>
            </a:r>
          </a:p>
          <a:p/>
          <a:p>
            <a:r>
              <a:t>Y aquí surge la pregunta inevitable: ¿Por qué blockchain y no una base de datos normal? Porque en una base de datos tradicional la confianza depende del administrador. En la red Stellar, el sello queda anclado en un ledger distribuido que ninguna de las partes puede alterar y que cualquiera puede auditar sin pedir permiso.</a:t>
            </a:r>
          </a:p>
          <a:p/>
          <a:p>
            <a:r>
              <a:t>Veamos exactamente cómo lo hace Mateo en Authory...»</a:t>
            </a:r>
          </a:p>
          <a:p/>
          <a:p>
            <a:r>
              <a:t>=== NOTAS TÉCNICAS Y OPERATIVAS ===</a:t>
            </a:r>
          </a:p>
          <a:p/>
          <a:p>
            <a:r>
              <a:t>PANTALLA: Fórmula de valor y recuadro '¿Por qué Blockchain?'.</a:t>
            </a:r>
          </a:p>
          <a:p>
            <a:r>
              <a:t>DRIVER: Prepara la ventana de navegación en `/registrar-obra`.</a:t>
            </a:r>
          </a:p>
          <a:p>
            <a:r>
              <a:t>PLAN B: Transición verbal fluida hacia la demo.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SPEECH DEL ORADOR ===</a:t>
            </a:r>
          </a:p>
          <a:p/>
          <a:p>
            <a:r>
              <a:t>«(El driver comparte pantalla en Vercel) Mateo entra a Authory y selecciona su archivo. En este milisegundo, el navegador ejecuta un cálculo criptográfico SHA-256 en su memoria local. Noten esto: el arte de Mateo no viaja por internet, su privacidad sigue intacta.</a:t>
            </a:r>
          </a:p>
          <a:p/>
          <a:p>
            <a:r>
              <a:t>Al confirmar, Authory invoca nuestro contrato inteligente en Soroban Testnet. La red procesa la transacción y emite un evento inmutable con la estampa de tiempo del bloque.</a:t>
            </a:r>
          </a:p>
          <a:p/>
          <a:p>
            <a:r>
              <a:t>(Driver pasa a /verificar) Ahora somos la editorial. Llega el comprador a la pantalla de verificación pública y sube el archivo recibido. En menos de 3 segundos, Authory consulta la red: comprueba que el hash coincide exactamente con el registrado por Mateo y muestra su historial. La editorial tiene la certeza de contratar con el autor legítimo, y Mateo tiene una prueba irrefutable respaldándolo.»</a:t>
            </a:r>
          </a:p>
          <a:p/>
          <a:p>
            <a:r>
              <a:t>=== NOTAS TÉCNICAS Y OPERATIVAS ===</a:t>
            </a:r>
          </a:p>
          <a:p/>
          <a:p>
            <a:r>
              <a:t>DRIVER: Ejecuta en silencio y con calma. No habla. Deja que el orador narre resultados.</a:t>
            </a:r>
          </a:p>
          <a:p>
            <a:r>
              <a:t>PLAN B: Si Soroban tarda &gt;15s, switch inmediato al video de YouTube (minuto 1:15) en pestaña oculta.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SPEECH DEL ORADOR ===</a:t>
            </a:r>
          </a:p>
          <a:p/>
          <a:p>
            <a:r>
              <a:t>«¿Cómo comprueba cualquier persona en el mundo que esto no es un truco de interfaz? Aquí está el registro en la red pública de Stellar.</a:t>
            </a:r>
          </a:p>
          <a:p>
            <a:r>
              <a:t>Nuestro contrato inteligente está desplegado en Soroban Testnet con la dirección CAOAFGP... Tenemos transacciones reales emitidas en vivo como 725e12..., el código fuente está abierto y documentado en nuestro repositorio con guías de reproducción paso a paso, y la aplicación está desplegada y accesible hoy mismo en Vercel.»</a:t>
            </a:r>
          </a:p>
          <a:p/>
          <a:p>
            <a:r>
              <a:t>=== NOTAS TÉCNICAS Y OPERATIVAS ===</a:t>
            </a:r>
          </a:p>
          <a:p/>
          <a:p>
            <a:r>
              <a:t>PANTALLA: Hashes y enlaces de verificación en Stellar Expert.</a:t>
            </a:r>
          </a:p>
          <a:p>
            <a:r>
              <a:t>DRIVER: Si hay 5 segundos de sobra, muestra la pestaña de Stellar Expert con el evento emitido.</a:t>
            </a:r>
          </a:p>
          <a:p>
            <a:r>
              <a:t>PLAN B: El enlace y QR están en pantalla para que el jurado lo audite.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SPEECH DEL ORADOR ===</a:t>
            </a:r>
          </a:p>
          <a:p/>
          <a:p>
            <a:r>
              <a:t>«Durante estas semanas aprendimos que la tecnología no sirve si genera fricción. En nuestras primeras pruebas descubrimos que exigirle al creador conectar una billetera con saldo de gas antes de registrar su primer dibujo hacía que el 80% abandonara. Por eso rediseñamos la experiencia: generamos el cálculo en el cliente y la evidencia de forma transparente.</a:t>
            </a:r>
          </a:p>
          <a:p/>
          <a:p>
            <a:r>
              <a:t>Lo que observamos es que el creador busca simplicidad; lo que comprobamos es que el contrato ejecuta las atestaciones en menos de 3 segundos; y lo que vamos a validar con nuestro protocolo de 10 usuarios es que 4 de cada 5 incluirán este sello en sus cotizaciones comerciales.»</a:t>
            </a:r>
          </a:p>
          <a:p/>
          <a:p>
            <a:r>
              <a:t>=== NOTAS TÉCNICAS Y OPERATIVAS ===</a:t>
            </a:r>
          </a:p>
          <a:p/>
          <a:p>
            <a:r>
              <a:t>PANTALLA: Las 3 columnas de validación.</a:t>
            </a:r>
          </a:p>
          <a:p>
            <a:r>
              <a:t>DRIVER: Vuelve a enfocar las diapositivas.</a:t>
            </a:r>
          </a:p>
          <a:p>
            <a:r>
              <a:t>PLAN B: Tono de honestidad técnica recomendado en el bootcamp.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SPEECH DEL ORADOR ===</a:t>
            </a:r>
          </a:p>
          <a:p/>
          <a:p>
            <a:r>
              <a:t>«Lo que sigue en los próximos 30 días es integrar Stellar Wallets Kit para firma descentralizada nativa y lanzar nuestro primer piloto con comunidades creativas.</a:t>
            </a:r>
          </a:p>
          <a:p/>
          <a:p>
            <a:r>
              <a:t>Por eso, hoy no venimos a decirles 'gracias, ¿alguna pregunta?'. Hoy venimos a hacerles un pedido concreto:</a:t>
            </a:r>
          </a:p>
          <a:p/>
          <a:p>
            <a:r>
              <a:t>Buscamos 5 agencias creativas y 10 creadores independientes que quieran proteger y certificar sus próximas 3 entregas con Authory.</a:t>
            </a:r>
          </a:p>
          <a:p/>
          <a:p>
            <a:r>
              <a:t>Ayúdennos a que ningún Mateo vuelva a perder los derechos sobre su propia obra. Muchas gracias.»</a:t>
            </a:r>
          </a:p>
          <a:p/>
          <a:p>
            <a:r>
              <a:t>=== NOTAS TÉCNICAS Y OPERATIVAS ===</a:t>
            </a:r>
          </a:p>
          <a:p/>
          <a:p>
            <a:r>
              <a:t>PANTALLA: Mateo seguro con su obra y pedido concreto.</a:t>
            </a:r>
          </a:p>
          <a:p>
            <a:r>
              <a:t>DRIVER: Deja visible el slide de cierre con el repositorio.</a:t>
            </a:r>
          </a:p>
          <a:p>
            <a:r>
              <a:t>PLAN B: Cierre firme y con impacto sin vacilar.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F38"/>
          </a:solidFill>
          <a:ln>
            <a:solidFill>
              <a:srgbClr val="071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0FAEC8"/>
                </a:solidFill>
                <a:latin typeface="IBM Plex Mono"/>
              </a:defRPr>
            </a:pPr>
            <a:r>
              <a:t>BLOCKCHAIN BUILDERS 101 · SESIÓN #9 · DEMOSTRAR</a:t>
            </a:r>
          </a:p>
        </p:txBody>
      </p:sp>
      <p:sp>
        <p:nvSpPr>
          <p:cNvPr id="4" name="TextBox 3"/>
          <p:cNvSpPr txBox="1"/>
          <p:nvPr/>
        </p:nvSpPr>
        <p:spPr>
          <a:xfrm>
            <a:off x="731520" y="822960"/>
            <a:ext cx="10698480" cy="822960"/>
          </a:xfrm>
          <a:prstGeom prst="rect">
            <a:avLst/>
          </a:prstGeom>
          <a:noFill/>
        </p:spPr>
        <p:txBody>
          <a:bodyPr wrap="square" lIns="0" tIns="0" rIns="0" bIns="0">
            <a:spAutoFit/>
          </a:bodyPr>
          <a:lstStyle/>
          <a:p>
            <a:pPr>
              <a:defRPr sz="2800" b="1">
                <a:solidFill>
                  <a:srgbClr val="F0F7FB"/>
                </a:solidFill>
                <a:latin typeface="Space Grotesk"/>
              </a:defRPr>
            </a:pPr>
            <a:r>
              <a:t>AUTHORY: </a:t>
            </a:r>
            <a:r>
              <a:rPr b="1">
                <a:solidFill>
                  <a:srgbClr val="72E0ED"/>
                </a:solidFill>
              </a:rPr>
              <a:t>MEMORIA INALTERABLE</a:t>
            </a:r>
            <a:r>
              <a:rPr b="1">
                <a:solidFill>
                  <a:srgbClr val="F0F7FB"/>
                </a:solidFill>
              </a:rPr>
              <a:t> Y DERECHOS EN STELLAR</a:t>
            </a:r>
          </a:p>
        </p:txBody>
      </p:sp>
      <p:sp>
        <p:nvSpPr>
          <p:cNvPr id="5" name="Rectangle 4"/>
          <p:cNvSpPr/>
          <p:nvPr/>
        </p:nvSpPr>
        <p:spPr>
          <a:xfrm>
            <a:off x="731520" y="1828800"/>
            <a:ext cx="6035040" cy="4114800"/>
          </a:xfrm>
          <a:prstGeom prst="rect">
            <a:avLst/>
          </a:prstGeom>
          <a:solidFill>
            <a:srgbClr val="0D2744"/>
          </a:solidFill>
          <a:ln w="25400">
            <a:solidFill>
              <a:srgbClr val="0FA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5486400" cy="3566160"/>
          </a:xfrm>
          <a:prstGeom prst="rect">
            <a:avLst/>
          </a:prstGeom>
          <a:noFill/>
        </p:spPr>
        <p:txBody>
          <a:bodyPr wrap="square">
            <a:spAutoFit/>
          </a:bodyPr>
          <a:lstStyle/>
          <a:p>
            <a:pPr>
              <a:defRPr sz="1100" b="1">
                <a:solidFill>
                  <a:srgbClr val="0FAEC8"/>
                </a:solidFill>
                <a:latin typeface="IBM Plex Mono"/>
              </a:defRPr>
            </a:pPr>
            <a:r>
              <a:t>PROPUESTA CENTRAL</a:t>
            </a:r>
          </a:p>
          <a:p>
            <a:pPr>
              <a:spcBef>
                <a:spcPts val="800"/>
              </a:spcBef>
              <a:defRPr sz="2000" b="1">
                <a:solidFill>
                  <a:srgbClr val="F0F7FB"/>
                </a:solidFill>
                <a:latin typeface="Space Grotesk"/>
              </a:defRPr>
            </a:pPr>
            <a:r>
              <a:t>Atestación criptográfica de autoría y licencias</a:t>
            </a:r>
          </a:p>
          <a:p>
            <a:pPr>
              <a:spcBef>
                <a:spcPts val="1200"/>
              </a:spcBef>
              <a:defRPr sz="1300">
                <a:solidFill>
                  <a:srgbClr val="8FB6D3"/>
                </a:solidFill>
                <a:latin typeface="IBM Plex Mono"/>
              </a:defRPr>
            </a:pPr>
            <a:r>
              <a:t>Permite a creadores digitales y artistas estampar una huella inmutable de sus obras en Stellar Testnet, manteniendo el archivo original 100% privado y permitiendo auditoría pública sin intermediarios.</a:t>
            </a:r>
          </a:p>
          <a:p>
            <a:pPr>
              <a:spcBef>
                <a:spcPts val="1800"/>
              </a:spcBef>
              <a:defRPr sz="1100" b="1">
                <a:solidFill>
                  <a:srgbClr val="72E0ED"/>
                </a:solidFill>
                <a:latin typeface="IBM Plex Mono"/>
              </a:defRPr>
            </a:pPr>
            <a:r>
              <a:t>[ SOROBAN SMART CONTRACT ]  [ SHA-256 NATIVO ]  [ NEXT.JS 16 ]</a:t>
            </a:r>
          </a:p>
        </p:txBody>
      </p:sp>
      <p:sp>
        <p:nvSpPr>
          <p:cNvPr id="7" name="Rectangle 6"/>
          <p:cNvSpPr/>
          <p:nvPr/>
        </p:nvSpPr>
        <p:spPr>
          <a:xfrm>
            <a:off x="7040880" y="1828800"/>
            <a:ext cx="4389120" cy="4114800"/>
          </a:xfrm>
          <a:prstGeom prst="rect">
            <a:avLst/>
          </a:prstGeom>
          <a:solidFill>
            <a:srgbClr val="113459"/>
          </a:solidFill>
          <a:ln w="25400">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2103120"/>
            <a:ext cx="3840480" cy="3566160"/>
          </a:xfrm>
          <a:prstGeom prst="rect">
            <a:avLst/>
          </a:prstGeom>
          <a:noFill/>
        </p:spPr>
        <p:txBody>
          <a:bodyPr wrap="square">
            <a:spAutoFit/>
          </a:bodyPr>
          <a:lstStyle/>
          <a:p>
            <a:pPr>
              <a:defRPr sz="1100" b="1">
                <a:solidFill>
                  <a:srgbClr val="72E0ED"/>
                </a:solidFill>
                <a:latin typeface="IBM Plex Mono"/>
              </a:defRPr>
            </a:pPr>
            <a:r>
              <a:t>EQUIPO DE DESARROLLO</a:t>
            </a:r>
          </a:p>
          <a:p>
            <a:pPr>
              <a:spcBef>
                <a:spcPts val="800"/>
              </a:spcBef>
              <a:defRPr sz="1200">
                <a:solidFill>
                  <a:srgbClr val="F0F7FB"/>
                </a:solidFill>
                <a:latin typeface="IBM Plex Mono"/>
              </a:defRPr>
            </a:pPr>
            <a:r>
              <a:t>• Alain Bonilla</a:t>
            </a:r>
            <a:br/>
            <a:r>
              <a:t>  Frontend 02, Arquitectura Stellar, Smart Contract</a:t>
            </a:r>
          </a:p>
          <a:p>
            <a:pPr>
              <a:spcBef>
                <a:spcPts val="800"/>
              </a:spcBef>
              <a:defRPr sz="1200">
                <a:solidFill>
                  <a:srgbClr val="F0F7FB"/>
                </a:solidFill>
                <a:latin typeface="IBM Plex Mono"/>
              </a:defRPr>
            </a:pPr>
            <a:r>
              <a:t>• Daniela Ramírez</a:t>
            </a:r>
            <a:br/>
            <a:r>
              <a:t>  Frontend Foundation, Coordinación del Repositorio</a:t>
            </a:r>
          </a:p>
          <a:p>
            <a:pPr>
              <a:spcBef>
                <a:spcPts val="800"/>
              </a:spcBef>
              <a:defRPr sz="1200">
                <a:solidFill>
                  <a:srgbClr val="F0F7FB"/>
                </a:solidFill>
                <a:latin typeface="IBM Plex Mono"/>
              </a:defRPr>
            </a:pPr>
            <a:r>
              <a:t>• Selene Escalona</a:t>
            </a:r>
            <a:br/>
            <a:r>
              <a:t>  Propuesta de Problema, Lean Canvas, Specs Soroban</a:t>
            </a:r>
          </a:p>
          <a:p>
            <a:pPr>
              <a:spcBef>
                <a:spcPts val="800"/>
              </a:spcBef>
              <a:defRPr sz="1200">
                <a:solidFill>
                  <a:srgbClr val="F0F7FB"/>
                </a:solidFill>
                <a:latin typeface="IBM Plex Mono"/>
              </a:defRPr>
            </a:pPr>
            <a:r>
              <a:t>• Rodrigo Ramírez</a:t>
            </a:r>
            <a:br/>
            <a:r>
              <a:t>  Historias de Usuario, Backlog MVP</a:t>
            </a:r>
          </a:p>
          <a:p>
            <a:pPr>
              <a:spcBef>
                <a:spcPts val="800"/>
              </a:spcBef>
              <a:defRPr sz="1200">
                <a:solidFill>
                  <a:srgbClr val="F0F7FB"/>
                </a:solidFill>
                <a:latin typeface="IBM Plex Mono"/>
              </a:defRPr>
            </a:pPr>
            <a:r>
              <a:t>• Owen Isaac Bailón</a:t>
            </a:r>
            <a:br/>
            <a:r>
              <a:t>  Módulo de Verificación Pública</a:t>
            </a:r>
          </a:p>
        </p:txBody>
      </p:sp>
      <p:sp>
        <p:nvSpPr>
          <p:cNvPr id="9" name="Rectangle 8"/>
          <p:cNvSpPr/>
          <p:nvPr/>
        </p:nvSpPr>
        <p:spPr>
          <a:xfrm>
            <a:off x="731520" y="6217920"/>
            <a:ext cx="10728655" cy="18288"/>
          </a:xfrm>
          <a:prstGeom prst="rect">
            <a:avLst/>
          </a:prstGeom>
          <a:solidFill>
            <a:srgbClr val="1A4975"/>
          </a:solidFill>
          <a:ln>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291072"/>
            <a:ext cx="7772400" cy="320040"/>
          </a:xfrm>
          <a:prstGeom prst="rect">
            <a:avLst/>
          </a:prstGeom>
          <a:noFill/>
        </p:spPr>
        <p:txBody>
          <a:bodyPr wrap="square" lIns="0" tIns="0" rIns="0" bIns="0">
            <a:spAutoFit/>
          </a:bodyPr>
          <a:lstStyle/>
          <a:p>
            <a:pPr>
              <a:defRPr sz="1100">
                <a:solidFill>
                  <a:srgbClr val="8FB6D3"/>
                </a:solidFill>
                <a:latin typeface="IBM Plex Mono"/>
              </a:defRPr>
            </a:pPr>
            <a:r>
              <a:t>Stellar × BAF · Demo Day Bootcamp Blockchain Builders</a:t>
            </a:r>
          </a:p>
        </p:txBody>
      </p:sp>
      <p:sp>
        <p:nvSpPr>
          <p:cNvPr id="11" name="TextBox 10"/>
          <p:cNvSpPr txBox="1"/>
          <p:nvPr/>
        </p:nvSpPr>
        <p:spPr>
          <a:xfrm>
            <a:off x="8686800" y="6291072"/>
            <a:ext cx="2773375" cy="320040"/>
          </a:xfrm>
          <a:prstGeom prst="rect">
            <a:avLst/>
          </a:prstGeom>
          <a:noFill/>
        </p:spPr>
        <p:txBody>
          <a:bodyPr wrap="square" lIns="0" tIns="0" rIns="0" bIns="0">
            <a:spAutoFit/>
          </a:bodyPr>
          <a:lstStyle/>
          <a:p>
            <a:pPr algn="r">
              <a:defRPr sz="1100" b="1">
                <a:solidFill>
                  <a:srgbClr val="72E0ED"/>
                </a:solidFill>
                <a:latin typeface="IBM Plex Mono"/>
              </a:defRPr>
            </a:pPr>
            <a:r>
              <a:t>0:00 - 0:15 (15 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F38"/>
          </a:solidFill>
          <a:ln>
            <a:solidFill>
              <a:srgbClr val="071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F97316"/>
                </a:solidFill>
                <a:latin typeface="IBM Plex Mono"/>
              </a:defRPr>
            </a:pPr>
            <a:r>
              <a:t>EL PROBLEMA REAL · CASO + DATO + FUENTE = CREIBILIDAD</a:t>
            </a:r>
          </a:p>
        </p:txBody>
      </p:sp>
      <p:sp>
        <p:nvSpPr>
          <p:cNvPr id="4" name="TextBox 3"/>
          <p:cNvSpPr txBox="1"/>
          <p:nvPr/>
        </p:nvSpPr>
        <p:spPr>
          <a:xfrm>
            <a:off x="731520" y="822960"/>
            <a:ext cx="10698480" cy="822960"/>
          </a:xfrm>
          <a:prstGeom prst="rect">
            <a:avLst/>
          </a:prstGeom>
          <a:noFill/>
        </p:spPr>
        <p:txBody>
          <a:bodyPr wrap="square" lIns="0" tIns="0" rIns="0" bIns="0">
            <a:spAutoFit/>
          </a:bodyPr>
          <a:lstStyle/>
          <a:p>
            <a:pPr>
              <a:defRPr sz="2800" b="1">
                <a:solidFill>
                  <a:srgbClr val="F0F7FB"/>
                </a:solidFill>
                <a:latin typeface="Space Grotesk"/>
              </a:defRPr>
            </a:pPr>
            <a:r>
              <a:rPr b="1">
                <a:solidFill>
                  <a:srgbClr val="72E0ED"/>
                </a:solidFill>
              </a:rPr>
              <a:t>MATEO</a:t>
            </a:r>
            <a:r>
              <a:rPr b="1">
                <a:solidFill>
                  <a:srgbClr val="F0F7FB"/>
                </a:solidFill>
              </a:rPr>
              <a:t> Y EL ROBO DE SU OBRA: CONSTRUIDO NO ES DEMOSTRADO</a:t>
            </a:r>
          </a:p>
        </p:txBody>
      </p:sp>
      <p:sp>
        <p:nvSpPr>
          <p:cNvPr id="5" name="Rectangle 4"/>
          <p:cNvSpPr/>
          <p:nvPr/>
        </p:nvSpPr>
        <p:spPr>
          <a:xfrm>
            <a:off x="731520" y="1828800"/>
            <a:ext cx="5486400" cy="4114800"/>
          </a:xfrm>
          <a:prstGeom prst="rect">
            <a:avLst/>
          </a:prstGeom>
          <a:solidFill>
            <a:srgbClr val="0D2744"/>
          </a:solidFill>
          <a:ln w="254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4937760" cy="3566160"/>
          </a:xfrm>
          <a:prstGeom prst="rect">
            <a:avLst/>
          </a:prstGeom>
          <a:noFill/>
        </p:spPr>
        <p:txBody>
          <a:bodyPr wrap="square">
            <a:spAutoFit/>
          </a:bodyPr>
          <a:lstStyle/>
          <a:p>
            <a:pPr>
              <a:defRPr sz="1100" b="1">
                <a:solidFill>
                  <a:srgbClr val="F97316"/>
                </a:solidFill>
                <a:latin typeface="IBM Plex Mono"/>
              </a:defRPr>
            </a:pPr>
            <a:r>
              <a:t>EL CASO CONCRETO</a:t>
            </a:r>
          </a:p>
          <a:p>
            <a:pPr>
              <a:spcBef>
                <a:spcPts val="600"/>
              </a:spcBef>
              <a:defRPr sz="1800" b="1">
                <a:solidFill>
                  <a:srgbClr val="F0F7FB"/>
                </a:solidFill>
                <a:latin typeface="Space Grotesk"/>
              </a:defRPr>
            </a:pPr>
            <a:r>
              <a:t>Mateo, ilustrador independiente en Medellín</a:t>
            </a:r>
          </a:p>
          <a:p>
            <a:pPr>
              <a:spcBef>
                <a:spcPts val="1000"/>
              </a:spcBef>
              <a:defRPr sz="1300">
                <a:solidFill>
                  <a:srgbClr val="8FB6D3"/>
                </a:solidFill>
                <a:latin typeface="IBM Plex Mono"/>
              </a:defRPr>
            </a:pPr>
            <a:r>
              <a:t>Mateo invirtió semanas creando una serie de personajes para una agencia publicitaria. Entregó bocetos por correo y el cliente canceló el encargo aduciendo 'recorte de presupuesto'.</a:t>
            </a:r>
          </a:p>
          <a:p>
            <a:pPr>
              <a:spcBef>
                <a:spcPts val="1000"/>
              </a:spcBef>
              <a:defRPr sz="1300">
                <a:solidFill>
                  <a:srgbClr val="8FB6D3"/>
                </a:solidFill>
                <a:latin typeface="IBM Plex Mono"/>
              </a:defRPr>
            </a:pPr>
            <a:r>
              <a:t>Al mes siguiente vio sus personajes en vallas y campañas comerciales sin su firma y sin liquidarle un solo peso de regalías. Sus únicas pruebas eran archivos locales de Photoshop y correos dispersos.</a:t>
            </a:r>
          </a:p>
        </p:txBody>
      </p:sp>
      <p:sp>
        <p:nvSpPr>
          <p:cNvPr id="7" name="Rectangle 6"/>
          <p:cNvSpPr/>
          <p:nvPr/>
        </p:nvSpPr>
        <p:spPr>
          <a:xfrm>
            <a:off x="6492240" y="1828800"/>
            <a:ext cx="4937760" cy="4114800"/>
          </a:xfrm>
          <a:prstGeom prst="rect">
            <a:avLst/>
          </a:prstGeom>
          <a:solidFill>
            <a:srgbClr val="113459"/>
          </a:solidFill>
          <a:ln w="25400">
            <a:solidFill>
              <a:srgbClr val="0FA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2103120"/>
            <a:ext cx="4389120" cy="3566160"/>
          </a:xfrm>
          <a:prstGeom prst="rect">
            <a:avLst/>
          </a:prstGeom>
          <a:noFill/>
        </p:spPr>
        <p:txBody>
          <a:bodyPr wrap="square">
            <a:spAutoFit/>
          </a:bodyPr>
          <a:lstStyle/>
          <a:p>
            <a:pPr>
              <a:defRPr sz="1100" b="1">
                <a:solidFill>
                  <a:srgbClr val="0FAEC8"/>
                </a:solidFill>
                <a:latin typeface="IBM Plex Mono"/>
              </a:defRPr>
            </a:pPr>
            <a:r>
              <a:t>EL DATO QUE LE DA PESO</a:t>
            </a:r>
          </a:p>
          <a:p>
            <a:pPr>
              <a:defRPr sz="6400" b="1">
                <a:solidFill>
                  <a:srgbClr val="72E0ED"/>
                </a:solidFill>
                <a:latin typeface="Space Grotesk"/>
              </a:defRPr>
            </a:pPr>
            <a:r>
              <a:t>71%</a:t>
            </a:r>
          </a:p>
          <a:p>
            <a:pPr>
              <a:defRPr sz="1600" b="1">
                <a:solidFill>
                  <a:srgbClr val="F0F7FB"/>
                </a:solidFill>
                <a:latin typeface="Space Grotesk"/>
              </a:defRPr>
            </a:pPr>
            <a:r>
              <a:t>de creadores independientes sufren impago o plagio</a:t>
            </a:r>
          </a:p>
          <a:p>
            <a:pPr>
              <a:spcBef>
                <a:spcPts val="800"/>
              </a:spcBef>
              <a:defRPr sz="1200">
                <a:solidFill>
                  <a:srgbClr val="8FB6D3"/>
                </a:solidFill>
                <a:latin typeface="IBM Plex Mono"/>
              </a:defRPr>
            </a:pPr>
            <a:r>
              <a:t>Fuente: Freelancers Union &amp; WIPO Creative Survey.</a:t>
            </a:r>
            <a:br/>
            <a:br/>
            <a:r>
              <a:t>¿Por qué no reclaman? Porque hoy sus únicas pruebas son fechas locales de archivos o cadenas de correo. Cualquier peritaje judicial cuesta más que el encargo mismo.</a:t>
            </a:r>
          </a:p>
        </p:txBody>
      </p:sp>
      <p:sp>
        <p:nvSpPr>
          <p:cNvPr id="9" name="Rectangle 8"/>
          <p:cNvSpPr/>
          <p:nvPr/>
        </p:nvSpPr>
        <p:spPr>
          <a:xfrm>
            <a:off x="731520" y="6217920"/>
            <a:ext cx="10728655" cy="18288"/>
          </a:xfrm>
          <a:prstGeom prst="rect">
            <a:avLst/>
          </a:prstGeom>
          <a:solidFill>
            <a:srgbClr val="1A4975"/>
          </a:solidFill>
          <a:ln>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291072"/>
            <a:ext cx="7772400" cy="320040"/>
          </a:xfrm>
          <a:prstGeom prst="rect">
            <a:avLst/>
          </a:prstGeom>
          <a:noFill/>
        </p:spPr>
        <p:txBody>
          <a:bodyPr wrap="square" lIns="0" tIns="0" rIns="0" bIns="0">
            <a:spAutoFit/>
          </a:bodyPr>
          <a:lstStyle/>
          <a:p>
            <a:pPr>
              <a:defRPr sz="1100">
                <a:solidFill>
                  <a:srgbClr val="8FB6D3"/>
                </a:solidFill>
                <a:latin typeface="IBM Plex Mono"/>
              </a:defRPr>
            </a:pPr>
            <a:r>
              <a:t>★ Regla del Taller: Un caso concreto antes que una abstracción vacía.</a:t>
            </a:r>
          </a:p>
        </p:txBody>
      </p:sp>
      <p:sp>
        <p:nvSpPr>
          <p:cNvPr id="11" name="TextBox 10"/>
          <p:cNvSpPr txBox="1"/>
          <p:nvPr/>
        </p:nvSpPr>
        <p:spPr>
          <a:xfrm>
            <a:off x="8686800" y="6291072"/>
            <a:ext cx="2773375" cy="320040"/>
          </a:xfrm>
          <a:prstGeom prst="rect">
            <a:avLst/>
          </a:prstGeom>
          <a:noFill/>
        </p:spPr>
        <p:txBody>
          <a:bodyPr wrap="square" lIns="0" tIns="0" rIns="0" bIns="0">
            <a:spAutoFit/>
          </a:bodyPr>
          <a:lstStyle/>
          <a:p>
            <a:pPr algn="r">
              <a:defRPr sz="1100" b="1">
                <a:solidFill>
                  <a:srgbClr val="72E0ED"/>
                </a:solidFill>
                <a:latin typeface="IBM Plex Mono"/>
              </a:defRPr>
            </a:pPr>
            <a:r>
              <a:t>0:15 - 0:45 (30 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F38"/>
          </a:solidFill>
          <a:ln>
            <a:solidFill>
              <a:srgbClr val="071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72E0ED"/>
                </a:solidFill>
                <a:latin typeface="IBM Plex Mono"/>
              </a:defRPr>
            </a:pPr>
            <a:r>
              <a:t>USUARIO Y CONTEXTO · CADA LADO NECESITA AL OTRO</a:t>
            </a:r>
          </a:p>
        </p:txBody>
      </p:sp>
      <p:sp>
        <p:nvSpPr>
          <p:cNvPr id="4" name="TextBox 3"/>
          <p:cNvSpPr txBox="1"/>
          <p:nvPr/>
        </p:nvSpPr>
        <p:spPr>
          <a:xfrm>
            <a:off x="731520" y="822960"/>
            <a:ext cx="10698480" cy="822960"/>
          </a:xfrm>
          <a:prstGeom prst="rect">
            <a:avLst/>
          </a:prstGeom>
          <a:noFill/>
        </p:spPr>
        <p:txBody>
          <a:bodyPr wrap="square" lIns="0" tIns="0" rIns="0" bIns="0">
            <a:spAutoFit/>
          </a:bodyPr>
          <a:lstStyle/>
          <a:p>
            <a:pPr>
              <a:defRPr sz="2800" b="1">
                <a:solidFill>
                  <a:srgbClr val="F0F7FB"/>
                </a:solidFill>
                <a:latin typeface="Space Grotesk"/>
              </a:defRPr>
            </a:pPr>
            <a:r>
              <a:t>DOS ACTORES, </a:t>
            </a:r>
            <a:r>
              <a:rPr b="1">
                <a:solidFill>
                  <a:srgbClr val="72E0ED"/>
                </a:solidFill>
              </a:rPr>
              <a:t>UNA SOLA HISTORIA</a:t>
            </a:r>
          </a:p>
        </p:txBody>
      </p:sp>
      <p:sp>
        <p:nvSpPr>
          <p:cNvPr id="5" name="Rectangle 4"/>
          <p:cNvSpPr/>
          <p:nvPr/>
        </p:nvSpPr>
        <p:spPr>
          <a:xfrm>
            <a:off x="731520" y="1828800"/>
            <a:ext cx="5212080" cy="4114800"/>
          </a:xfrm>
          <a:prstGeom prst="rect">
            <a:avLst/>
          </a:prstGeom>
          <a:solidFill>
            <a:srgbClr val="0D2744"/>
          </a:solidFill>
          <a:ln w="25400">
            <a:solidFill>
              <a:srgbClr val="0FA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4663440" cy="3566160"/>
          </a:xfrm>
          <a:prstGeom prst="rect">
            <a:avLst/>
          </a:prstGeom>
          <a:noFill/>
        </p:spPr>
        <p:txBody>
          <a:bodyPr wrap="square">
            <a:spAutoFit/>
          </a:bodyPr>
          <a:lstStyle/>
          <a:p>
            <a:pPr>
              <a:defRPr sz="1100" b="1">
                <a:solidFill>
                  <a:srgbClr val="0FAEC8"/>
                </a:solidFill>
                <a:latin typeface="IBM Plex Mono"/>
              </a:defRPr>
            </a:pPr>
            <a:r>
              <a:t>ACTOR 1: MATEO (REGISTRA)</a:t>
            </a:r>
          </a:p>
          <a:p>
            <a:pPr>
              <a:spcBef>
                <a:spcPts val="600"/>
              </a:spcBef>
              <a:defRPr sz="2000" b="1">
                <a:solidFill>
                  <a:srgbClr val="F0F7FB"/>
                </a:solidFill>
                <a:latin typeface="Space Grotesk"/>
              </a:defRPr>
            </a:pPr>
            <a:r>
              <a:t>El Creador Independiente</a:t>
            </a:r>
          </a:p>
          <a:p>
            <a:pPr>
              <a:spcBef>
                <a:spcPts val="1200"/>
              </a:spcBef>
              <a:defRPr sz="1300">
                <a:solidFill>
                  <a:srgbClr val="8FB6D3"/>
                </a:solidFill>
                <a:latin typeface="IBM Plex Mono"/>
              </a:defRPr>
            </a:pPr>
            <a:r>
              <a:t>• Quién es: Ilustrador, diseñador o artista digital que produce obras de alto valor.</a:t>
            </a:r>
            <a:br/>
            <a:br/>
            <a:r>
              <a:t>• Qué hace hoy: Guarda archivos en Google Drive o se envía auto-correos esperando que la fecha sirva de prueba.</a:t>
            </a:r>
            <a:br/>
            <a:br/>
            <a:r>
              <a:t>• Qué le cuesta: Desprotección jurídica, impotencia ante apropiaciones y horas reconstruyendo historiales dispersos.</a:t>
            </a:r>
          </a:p>
        </p:txBody>
      </p:sp>
      <p:sp>
        <p:nvSpPr>
          <p:cNvPr id="7" name="Rectangle 6"/>
          <p:cNvSpPr/>
          <p:nvPr/>
        </p:nvSpPr>
        <p:spPr>
          <a:xfrm>
            <a:off x="6217920" y="1828800"/>
            <a:ext cx="5212080" cy="4114800"/>
          </a:xfrm>
          <a:prstGeom prst="rect">
            <a:avLst/>
          </a:prstGeom>
          <a:solidFill>
            <a:srgbClr val="113459"/>
          </a:solidFill>
          <a:ln w="25400">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103120"/>
            <a:ext cx="4663440" cy="3566160"/>
          </a:xfrm>
          <a:prstGeom prst="rect">
            <a:avLst/>
          </a:prstGeom>
          <a:noFill/>
        </p:spPr>
        <p:txBody>
          <a:bodyPr wrap="square">
            <a:spAutoFit/>
          </a:bodyPr>
          <a:lstStyle/>
          <a:p>
            <a:pPr>
              <a:defRPr sz="1100" b="1">
                <a:solidFill>
                  <a:srgbClr val="72E0ED"/>
                </a:solidFill>
                <a:latin typeface="IBM Plex Mono"/>
              </a:defRPr>
            </a:pPr>
            <a:r>
              <a:t>ACTOR 2: LA EDITORIAL (CONSULTA)</a:t>
            </a:r>
          </a:p>
          <a:p>
            <a:pPr>
              <a:spcBef>
                <a:spcPts val="600"/>
              </a:spcBef>
              <a:defRPr sz="2000" b="1">
                <a:solidFill>
                  <a:srgbClr val="F0F7FB"/>
                </a:solidFill>
                <a:latin typeface="Space Grotesk"/>
              </a:defRPr>
            </a:pPr>
            <a:r>
              <a:t>El Comprador / Tercero</a:t>
            </a:r>
          </a:p>
          <a:p>
            <a:pPr>
              <a:spcBef>
                <a:spcPts val="1200"/>
              </a:spcBef>
              <a:defRPr sz="1300">
                <a:solidFill>
                  <a:srgbClr val="8FB6D3"/>
                </a:solidFill>
                <a:latin typeface="IBM Plex Mono"/>
              </a:defRPr>
            </a:pPr>
            <a:r>
              <a:t>• Quién es: Agencia de publicidad, editorial, productora o coleccionista.</a:t>
            </a:r>
            <a:br/>
            <a:br/>
            <a:r>
              <a:t>• Qué hace hoy: Firma contratos a ciegas rezando para que no aparezca el autor real reclamando derechos no transferidos.</a:t>
            </a:r>
            <a:br/>
            <a:br/>
            <a:r>
              <a:t>• Qué necesita: Comprobar en 5 segundos si Mateo tiene la titularidad legítima para licenciar su obra sin trámites burocráticos.</a:t>
            </a:r>
          </a:p>
        </p:txBody>
      </p:sp>
      <p:sp>
        <p:nvSpPr>
          <p:cNvPr id="9" name="Rectangle 8"/>
          <p:cNvSpPr/>
          <p:nvPr/>
        </p:nvSpPr>
        <p:spPr>
          <a:xfrm>
            <a:off x="731520" y="6217920"/>
            <a:ext cx="10728655" cy="18288"/>
          </a:xfrm>
          <a:prstGeom prst="rect">
            <a:avLst/>
          </a:prstGeom>
          <a:solidFill>
            <a:srgbClr val="1A4975"/>
          </a:solidFill>
          <a:ln>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291072"/>
            <a:ext cx="7772400" cy="320040"/>
          </a:xfrm>
          <a:prstGeom prst="rect">
            <a:avLst/>
          </a:prstGeom>
          <a:noFill/>
        </p:spPr>
        <p:txBody>
          <a:bodyPr wrap="square" lIns="0" tIns="0" rIns="0" bIns="0">
            <a:spAutoFit/>
          </a:bodyPr>
          <a:lstStyle/>
          <a:p>
            <a:pPr>
              <a:defRPr sz="1100">
                <a:solidFill>
                  <a:srgbClr val="8FB6D3"/>
                </a:solidFill>
                <a:latin typeface="IBM Plex Mono"/>
              </a:defRPr>
            </a:pPr>
            <a:r>
              <a:t>La historia se cuenta desde Mateo; la editorial aparece cuando se necesita.</a:t>
            </a:r>
          </a:p>
        </p:txBody>
      </p:sp>
      <p:sp>
        <p:nvSpPr>
          <p:cNvPr id="11" name="TextBox 10"/>
          <p:cNvSpPr txBox="1"/>
          <p:nvPr/>
        </p:nvSpPr>
        <p:spPr>
          <a:xfrm>
            <a:off x="8686800" y="6291072"/>
            <a:ext cx="2773375" cy="320040"/>
          </a:xfrm>
          <a:prstGeom prst="rect">
            <a:avLst/>
          </a:prstGeom>
          <a:noFill/>
        </p:spPr>
        <p:txBody>
          <a:bodyPr wrap="square" lIns="0" tIns="0" rIns="0" bIns="0">
            <a:spAutoFit/>
          </a:bodyPr>
          <a:lstStyle/>
          <a:p>
            <a:pPr algn="r">
              <a:defRPr sz="1100" b="1">
                <a:solidFill>
                  <a:srgbClr val="72E0ED"/>
                </a:solidFill>
                <a:latin typeface="IBM Plex Mono"/>
              </a:defRPr>
            </a:pPr>
            <a:r>
              <a:t>0:45 - 1:10 (25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F38"/>
          </a:solidFill>
          <a:ln>
            <a:solidFill>
              <a:srgbClr val="071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38D39F"/>
                </a:solidFill>
                <a:latin typeface="IBM Plex Mono"/>
              </a:defRPr>
            </a:pPr>
            <a:r>
              <a:t>SOLUCIÓN · DEFINICIÓN EXACTA DE VALOR</a:t>
            </a:r>
          </a:p>
        </p:txBody>
      </p:sp>
      <p:sp>
        <p:nvSpPr>
          <p:cNvPr id="4" name="TextBox 3"/>
          <p:cNvSpPr txBox="1"/>
          <p:nvPr/>
        </p:nvSpPr>
        <p:spPr>
          <a:xfrm>
            <a:off x="731520" y="822960"/>
            <a:ext cx="10698480" cy="822960"/>
          </a:xfrm>
          <a:prstGeom prst="rect">
            <a:avLst/>
          </a:prstGeom>
          <a:noFill/>
        </p:spPr>
        <p:txBody>
          <a:bodyPr wrap="square" lIns="0" tIns="0" rIns="0" bIns="0">
            <a:spAutoFit/>
          </a:bodyPr>
          <a:lstStyle/>
          <a:p>
            <a:pPr>
              <a:defRPr sz="2800" b="1">
                <a:solidFill>
                  <a:srgbClr val="F0F7FB"/>
                </a:solidFill>
                <a:latin typeface="Space Grotesk"/>
              </a:defRPr>
            </a:pPr>
            <a:r>
              <a:t>LA PROPUESTA DE VALOR: </a:t>
            </a:r>
            <a:r>
              <a:rPr b="1">
                <a:solidFill>
                  <a:srgbClr val="72E0ED"/>
                </a:solidFill>
              </a:rPr>
              <a:t>¿POR QUÉ BLOCKCHAIN?</a:t>
            </a:r>
          </a:p>
        </p:txBody>
      </p:sp>
      <p:sp>
        <p:nvSpPr>
          <p:cNvPr id="5" name="Rectangle 4"/>
          <p:cNvSpPr/>
          <p:nvPr/>
        </p:nvSpPr>
        <p:spPr>
          <a:xfrm>
            <a:off x="731520" y="1828800"/>
            <a:ext cx="10728655" cy="2286000"/>
          </a:xfrm>
          <a:prstGeom prst="rect">
            <a:avLst/>
          </a:prstGeom>
          <a:solidFill>
            <a:srgbClr val="0D2744"/>
          </a:solidFill>
          <a:ln w="25400">
            <a:solidFill>
              <a:srgbClr val="0FA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11680"/>
            <a:ext cx="10180015" cy="1920240"/>
          </a:xfrm>
          <a:prstGeom prst="rect">
            <a:avLst/>
          </a:prstGeom>
          <a:noFill/>
        </p:spPr>
        <p:txBody>
          <a:bodyPr wrap="square">
            <a:spAutoFit/>
          </a:bodyPr>
          <a:lstStyle/>
          <a:p>
            <a:r>
              <a:rPr b="1" sz="1400">
                <a:solidFill>
                  <a:srgbClr val="72E0ED"/>
                </a:solidFill>
                <a:latin typeface="IBM Plex Mono"/>
              </a:rPr>
              <a:t>PARA:</a:t>
            </a:r>
            <a:r>
              <a:rPr sz="1400">
                <a:solidFill>
                  <a:srgbClr val="F0F7FB"/>
                </a:solidFill>
                <a:latin typeface="IBM Plex Mono"/>
              </a:rPr>
              <a:t> creadores digitales e ilustradores independientes,</a:t>
            </a:r>
          </a:p>
          <a:p>
            <a:pPr>
              <a:spcBef>
                <a:spcPts val="600"/>
              </a:spcBef>
            </a:pPr>
            <a:r>
              <a:rPr b="1" sz="1400">
                <a:solidFill>
                  <a:srgbClr val="72E0ED"/>
                </a:solidFill>
                <a:latin typeface="IBM Plex Mono"/>
              </a:rPr>
              <a:t>QUE:</a:t>
            </a:r>
            <a:r>
              <a:rPr sz="1400">
                <a:solidFill>
                  <a:srgbClr val="F0F7FB"/>
                </a:solidFill>
                <a:latin typeface="IBM Plex Mono"/>
              </a:rPr>
              <a:t> no pueden comprobar la precedencia ni licencias de sus obras,</a:t>
            </a:r>
          </a:p>
          <a:p>
            <a:pPr>
              <a:spcBef>
                <a:spcPts val="600"/>
              </a:spcBef>
            </a:pPr>
            <a:r>
              <a:rPr b="1" sz="1400">
                <a:solidFill>
                  <a:srgbClr val="72E0ED"/>
                </a:solidFill>
                <a:latin typeface="IBM Plex Mono"/>
              </a:rPr>
              <a:t>AUTHORY PERMITE:</a:t>
            </a:r>
            <a:r>
              <a:rPr sz="1400">
                <a:solidFill>
                  <a:srgbClr val="F0F7FB"/>
                </a:solidFill>
                <a:latin typeface="IBM Plex Mono"/>
              </a:rPr>
              <a:t> generar un sello temporal inmutable en Stellar manteniendo el archivo privado,</a:t>
            </a:r>
          </a:p>
          <a:p>
            <a:pPr>
              <a:spcBef>
                <a:spcPts val="600"/>
              </a:spcBef>
            </a:pPr>
            <a:r>
              <a:rPr b="1" sz="1400">
                <a:solidFill>
                  <a:srgbClr val="72E0ED"/>
                </a:solidFill>
                <a:latin typeface="IBM Plex Mono"/>
              </a:rPr>
              <a:t>A DIFERENCIA DE:</a:t>
            </a:r>
            <a:r>
              <a:rPr sz="1400">
                <a:solidFill>
                  <a:srgbClr val="F0F7FB"/>
                </a:solidFill>
                <a:latin typeface="IBM Plex Mono"/>
              </a:rPr>
              <a:t> archivos y correos que cualquiera puede manipular o plataformas cerradas.</a:t>
            </a:r>
          </a:p>
        </p:txBody>
      </p:sp>
      <p:sp>
        <p:nvSpPr>
          <p:cNvPr id="7" name="Rectangle 6"/>
          <p:cNvSpPr/>
          <p:nvPr/>
        </p:nvSpPr>
        <p:spPr>
          <a:xfrm>
            <a:off x="731520" y="4389120"/>
            <a:ext cx="10728655" cy="1554480"/>
          </a:xfrm>
          <a:prstGeom prst="rect">
            <a:avLst/>
          </a:prstGeom>
          <a:solidFill>
            <a:srgbClr val="113459"/>
          </a:solidFill>
          <a:ln w="254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572000"/>
            <a:ext cx="10180015" cy="1188720"/>
          </a:xfrm>
          <a:prstGeom prst="rect">
            <a:avLst/>
          </a:prstGeom>
          <a:noFill/>
        </p:spPr>
        <p:txBody>
          <a:bodyPr wrap="square">
            <a:spAutoFit/>
          </a:bodyPr>
          <a:lstStyle/>
          <a:p>
            <a:pPr>
              <a:defRPr sz="1100" b="1">
                <a:solidFill>
                  <a:srgbClr val="F97316"/>
                </a:solidFill>
                <a:latin typeface="IBM Plex Mono"/>
              </a:defRPr>
            </a:pPr>
            <a:r>
              <a:t>¿POR QUÉ BLOCKCHAIN EN UNA FRASE? (LA AUDIENCIA LO PREGUNTARÁ)</a:t>
            </a:r>
          </a:p>
          <a:p>
            <a:pPr>
              <a:spcBef>
                <a:spcPts val="600"/>
              </a:spcBef>
              <a:defRPr sz="1700" b="1">
                <a:solidFill>
                  <a:srgbClr val="F0F7FB"/>
                </a:solidFill>
                <a:latin typeface="Space Grotesk"/>
              </a:defRPr>
            </a:pPr>
            <a:r>
              <a:t>«Porque la huella queda en un registro público que ninguna de las partes puede alterar después y que cualquiera puede auditar sin pedir permiso.»</a:t>
            </a:r>
          </a:p>
        </p:txBody>
      </p:sp>
      <p:sp>
        <p:nvSpPr>
          <p:cNvPr id="9" name="Rectangle 8"/>
          <p:cNvSpPr/>
          <p:nvPr/>
        </p:nvSpPr>
        <p:spPr>
          <a:xfrm>
            <a:off x="731520" y="6217920"/>
            <a:ext cx="10728655" cy="18288"/>
          </a:xfrm>
          <a:prstGeom prst="rect">
            <a:avLst/>
          </a:prstGeom>
          <a:solidFill>
            <a:srgbClr val="1A4975"/>
          </a:solidFill>
          <a:ln>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291072"/>
            <a:ext cx="7772400" cy="320040"/>
          </a:xfrm>
          <a:prstGeom prst="rect">
            <a:avLst/>
          </a:prstGeom>
          <a:noFill/>
        </p:spPr>
        <p:txBody>
          <a:bodyPr wrap="square" lIns="0" tIns="0" rIns="0" bIns="0">
            <a:spAutoFit/>
          </a:bodyPr>
          <a:lstStyle/>
          <a:p>
            <a:pPr>
              <a:defRPr sz="1100">
                <a:solidFill>
                  <a:srgbClr val="8FB6D3"/>
                </a:solidFill>
                <a:latin typeface="IBM Plex Mono"/>
              </a:defRPr>
            </a:pPr>
            <a:r>
              <a:t>Frase que une: «Veamos exactamente cómo lo hace Mateo en Authory...»</a:t>
            </a:r>
          </a:p>
        </p:txBody>
      </p:sp>
      <p:sp>
        <p:nvSpPr>
          <p:cNvPr id="11" name="TextBox 10"/>
          <p:cNvSpPr txBox="1"/>
          <p:nvPr/>
        </p:nvSpPr>
        <p:spPr>
          <a:xfrm>
            <a:off x="8686800" y="6291072"/>
            <a:ext cx="2773375" cy="320040"/>
          </a:xfrm>
          <a:prstGeom prst="rect">
            <a:avLst/>
          </a:prstGeom>
          <a:noFill/>
        </p:spPr>
        <p:txBody>
          <a:bodyPr wrap="square" lIns="0" tIns="0" rIns="0" bIns="0">
            <a:spAutoFit/>
          </a:bodyPr>
          <a:lstStyle/>
          <a:p>
            <a:pPr algn="r">
              <a:defRPr sz="1100" b="1">
                <a:solidFill>
                  <a:srgbClr val="72E0ED"/>
                </a:solidFill>
                <a:latin typeface="IBM Plex Mono"/>
              </a:defRPr>
            </a:pPr>
            <a:r>
              <a:t>1:10 - 1:40 (30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F38"/>
          </a:solidFill>
          <a:ln>
            <a:solidFill>
              <a:srgbClr val="071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0FAEC8"/>
                </a:solidFill>
                <a:latin typeface="IBM Plex Mono"/>
              </a:defRPr>
            </a:pPr>
            <a:r>
              <a:t>DEMO EN VIVO (90 SEGUNDOS) · NARRAR RESULTADOS, NO CLICS</a:t>
            </a:r>
          </a:p>
        </p:txBody>
      </p:sp>
      <p:sp>
        <p:nvSpPr>
          <p:cNvPr id="4" name="TextBox 3"/>
          <p:cNvSpPr txBox="1"/>
          <p:nvPr/>
        </p:nvSpPr>
        <p:spPr>
          <a:xfrm>
            <a:off x="731520" y="822960"/>
            <a:ext cx="10698480" cy="822960"/>
          </a:xfrm>
          <a:prstGeom prst="rect">
            <a:avLst/>
          </a:prstGeom>
          <a:noFill/>
        </p:spPr>
        <p:txBody>
          <a:bodyPr wrap="square" lIns="0" tIns="0" rIns="0" bIns="0">
            <a:spAutoFit/>
          </a:bodyPr>
          <a:lstStyle/>
          <a:p>
            <a:pPr>
              <a:defRPr sz="2800" b="1">
                <a:solidFill>
                  <a:srgbClr val="F0F7FB"/>
                </a:solidFill>
                <a:latin typeface="Space Grotesk"/>
              </a:defRPr>
            </a:pPr>
            <a:r>
              <a:t>UN SOLO FLUJO, </a:t>
            </a:r>
            <a:r>
              <a:rPr b="1">
                <a:solidFill>
                  <a:srgbClr val="72E0ED"/>
                </a:solidFill>
              </a:rPr>
              <a:t>DE PUNTA A PUNTA</a:t>
            </a:r>
          </a:p>
        </p:txBody>
      </p:sp>
      <p:sp>
        <p:nvSpPr>
          <p:cNvPr id="5" name="Rectangle 4"/>
          <p:cNvSpPr/>
          <p:nvPr/>
        </p:nvSpPr>
        <p:spPr>
          <a:xfrm>
            <a:off x="731520" y="1828800"/>
            <a:ext cx="2514600" cy="2926080"/>
          </a:xfrm>
          <a:prstGeom prst="rect">
            <a:avLst/>
          </a:prstGeom>
          <a:solidFill>
            <a:srgbClr val="113459"/>
          </a:solidFill>
          <a:ln w="25400">
            <a:solidFill>
              <a:srgbClr val="0FA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2148840" cy="2560320"/>
          </a:xfrm>
          <a:prstGeom prst="rect">
            <a:avLst/>
          </a:prstGeom>
          <a:noFill/>
        </p:spPr>
        <p:txBody>
          <a:bodyPr wrap="square">
            <a:spAutoFit/>
          </a:bodyPr>
          <a:lstStyle/>
          <a:p>
            <a:pPr>
              <a:defRPr sz="1000" b="1">
                <a:solidFill>
                  <a:srgbClr val="0FAEC8"/>
                </a:solidFill>
                <a:latin typeface="IBM Plex Mono"/>
              </a:defRPr>
            </a:pPr>
            <a:r>
              <a:t>PASO 1 (20 s)</a:t>
            </a:r>
          </a:p>
          <a:p>
            <a:pPr>
              <a:spcBef>
                <a:spcPts val="600"/>
              </a:spcBef>
              <a:defRPr sz="1500" b="1">
                <a:solidFill>
                  <a:srgbClr val="F0F7FB"/>
                </a:solidFill>
                <a:latin typeface="Space Grotesk"/>
              </a:defRPr>
            </a:pPr>
            <a:r>
              <a:t>1. HASH LOCAL</a:t>
            </a:r>
          </a:p>
          <a:p>
            <a:pPr>
              <a:spcBef>
                <a:spcPts val="800"/>
              </a:spcBef>
              <a:defRPr sz="1100">
                <a:solidFill>
                  <a:srgbClr val="8FB6D3"/>
                </a:solidFill>
                <a:latin typeface="IBM Plex Mono"/>
              </a:defRPr>
            </a:pPr>
            <a:r>
              <a:t>Mateo sube su obra. La Web Crypto API calcula el hash SHA-256 en su RAM. El archivo original nunca viaja a la red.</a:t>
            </a:r>
          </a:p>
        </p:txBody>
      </p:sp>
      <p:sp>
        <p:nvSpPr>
          <p:cNvPr id="7" name="Rectangle 6"/>
          <p:cNvSpPr/>
          <p:nvPr/>
        </p:nvSpPr>
        <p:spPr>
          <a:xfrm>
            <a:off x="3465576" y="1828800"/>
            <a:ext cx="2514600" cy="2926080"/>
          </a:xfrm>
          <a:prstGeom prst="rect">
            <a:avLst/>
          </a:prstGeom>
          <a:solidFill>
            <a:srgbClr val="113459"/>
          </a:solidFill>
          <a:ln w="25400">
            <a:solidFill>
              <a:srgbClr val="72E0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48456" y="2011680"/>
            <a:ext cx="2148840" cy="2560320"/>
          </a:xfrm>
          <a:prstGeom prst="rect">
            <a:avLst/>
          </a:prstGeom>
          <a:noFill/>
        </p:spPr>
        <p:txBody>
          <a:bodyPr wrap="square">
            <a:spAutoFit/>
          </a:bodyPr>
          <a:lstStyle/>
          <a:p>
            <a:pPr>
              <a:defRPr sz="1000" b="1">
                <a:solidFill>
                  <a:srgbClr val="72E0ED"/>
                </a:solidFill>
                <a:latin typeface="IBM Plex Mono"/>
              </a:defRPr>
            </a:pPr>
            <a:r>
              <a:t>PASO 2 (25 s)</a:t>
            </a:r>
          </a:p>
          <a:p>
            <a:pPr>
              <a:spcBef>
                <a:spcPts val="600"/>
              </a:spcBef>
              <a:defRPr sz="1500" b="1">
                <a:solidFill>
                  <a:srgbClr val="F0F7FB"/>
                </a:solidFill>
                <a:latin typeface="Space Grotesk"/>
              </a:defRPr>
            </a:pPr>
            <a:r>
              <a:t>2. SOROBAN</a:t>
            </a:r>
          </a:p>
          <a:p>
            <a:pPr>
              <a:spcBef>
                <a:spcPts val="800"/>
              </a:spcBef>
              <a:defRPr sz="1100">
                <a:solidFill>
                  <a:srgbClr val="8FB6D3"/>
                </a:solidFill>
                <a:latin typeface="IBM Plex Mono"/>
              </a:defRPr>
            </a:pPr>
            <a:r>
              <a:t>El smart contract en Stellar Testnet estampa la huella inmutable y emite el evento nativo work_reg.</a:t>
            </a:r>
          </a:p>
        </p:txBody>
      </p:sp>
      <p:sp>
        <p:nvSpPr>
          <p:cNvPr id="9" name="Rectangle 8"/>
          <p:cNvSpPr/>
          <p:nvPr/>
        </p:nvSpPr>
        <p:spPr>
          <a:xfrm>
            <a:off x="6199632" y="1828800"/>
            <a:ext cx="2514600" cy="2926080"/>
          </a:xfrm>
          <a:prstGeom prst="rect">
            <a:avLst/>
          </a:prstGeom>
          <a:solidFill>
            <a:srgbClr val="113459"/>
          </a:solidFill>
          <a:ln w="25400">
            <a:solidFill>
              <a:srgbClr val="38D39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2011680"/>
            <a:ext cx="2148840" cy="2560320"/>
          </a:xfrm>
          <a:prstGeom prst="rect">
            <a:avLst/>
          </a:prstGeom>
          <a:noFill/>
        </p:spPr>
        <p:txBody>
          <a:bodyPr wrap="square">
            <a:spAutoFit/>
          </a:bodyPr>
          <a:lstStyle/>
          <a:p>
            <a:pPr>
              <a:defRPr sz="1000" b="1">
                <a:solidFill>
                  <a:srgbClr val="38D39F"/>
                </a:solidFill>
                <a:latin typeface="IBM Plex Mono"/>
              </a:defRPr>
            </a:pPr>
            <a:r>
              <a:t>PASO 3 (25 s)</a:t>
            </a:r>
          </a:p>
          <a:p>
            <a:pPr>
              <a:spcBef>
                <a:spcPts val="600"/>
              </a:spcBef>
              <a:defRPr sz="1500" b="1">
                <a:solidFill>
                  <a:srgbClr val="F0F7FB"/>
                </a:solidFill>
                <a:latin typeface="Space Grotesk"/>
              </a:defRPr>
            </a:pPr>
            <a:r>
              <a:t>3. AUDITORÍA</a:t>
            </a:r>
          </a:p>
          <a:p>
            <a:pPr>
              <a:spcBef>
                <a:spcPts val="800"/>
              </a:spcBef>
              <a:defRPr sz="1100">
                <a:solidFill>
                  <a:srgbClr val="8FB6D3"/>
                </a:solidFill>
                <a:latin typeface="IBM Plex Mono"/>
              </a:defRPr>
            </a:pPr>
            <a:r>
              <a:t>La editorial entra a /verificar, sube el archivo recibido y comprueba autoría y fecha sin tener cuenta.</a:t>
            </a:r>
          </a:p>
        </p:txBody>
      </p:sp>
      <p:sp>
        <p:nvSpPr>
          <p:cNvPr id="11" name="Rectangle 10"/>
          <p:cNvSpPr/>
          <p:nvPr/>
        </p:nvSpPr>
        <p:spPr>
          <a:xfrm>
            <a:off x="8933688" y="1828800"/>
            <a:ext cx="2514600" cy="2926080"/>
          </a:xfrm>
          <a:prstGeom prst="rect">
            <a:avLst/>
          </a:prstGeom>
          <a:solidFill>
            <a:srgbClr val="113459"/>
          </a:solidFill>
          <a:ln w="254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16568" y="2011680"/>
            <a:ext cx="2148840" cy="2560320"/>
          </a:xfrm>
          <a:prstGeom prst="rect">
            <a:avLst/>
          </a:prstGeom>
          <a:noFill/>
        </p:spPr>
        <p:txBody>
          <a:bodyPr wrap="square">
            <a:spAutoFit/>
          </a:bodyPr>
          <a:lstStyle/>
          <a:p>
            <a:pPr>
              <a:defRPr sz="1000" b="1">
                <a:solidFill>
                  <a:srgbClr val="F97316"/>
                </a:solidFill>
                <a:latin typeface="IBM Plex Mono"/>
              </a:defRPr>
            </a:pPr>
            <a:r>
              <a:t>PASO 4 (20 s)</a:t>
            </a:r>
          </a:p>
          <a:p>
            <a:pPr>
              <a:spcBef>
                <a:spcPts val="600"/>
              </a:spcBef>
              <a:defRPr sz="1500" b="1">
                <a:solidFill>
                  <a:srgbClr val="F0F7FB"/>
                </a:solidFill>
                <a:latin typeface="Space Grotesk"/>
              </a:defRPr>
            </a:pPr>
            <a:r>
              <a:t>4. COMPROBANTE</a:t>
            </a:r>
          </a:p>
          <a:p>
            <a:pPr>
              <a:spcBef>
                <a:spcPts val="800"/>
              </a:spcBef>
              <a:defRPr sz="1100">
                <a:solidFill>
                  <a:srgbClr val="8FB6D3"/>
                </a:solidFill>
                <a:latin typeface="IBM Plex Mono"/>
              </a:defRPr>
            </a:pPr>
            <a:r>
              <a:t>Inspección pública del ledger en Stellar Expert y descarga de certificado imprimible con QR.</a:t>
            </a:r>
          </a:p>
        </p:txBody>
      </p:sp>
      <p:sp>
        <p:nvSpPr>
          <p:cNvPr id="13" name="Rectangle 12"/>
          <p:cNvSpPr/>
          <p:nvPr/>
        </p:nvSpPr>
        <p:spPr>
          <a:xfrm>
            <a:off x="731520" y="4937760"/>
            <a:ext cx="10728655" cy="1005840"/>
          </a:xfrm>
          <a:prstGeom prst="rect">
            <a:avLst/>
          </a:prstGeom>
          <a:solidFill>
            <a:srgbClr val="0D2744"/>
          </a:solidFill>
          <a:ln w="25400">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5029200"/>
            <a:ext cx="10180015" cy="822960"/>
          </a:xfrm>
          <a:prstGeom prst="rect">
            <a:avLst/>
          </a:prstGeom>
          <a:noFill/>
        </p:spPr>
        <p:txBody>
          <a:bodyPr wrap="square">
            <a:spAutoFit/>
          </a:bodyPr>
          <a:lstStyle/>
          <a:p>
            <a:pPr>
              <a:defRPr sz="1100" b="1">
                <a:solidFill>
                  <a:srgbClr val="72E0ED"/>
                </a:solidFill>
                <a:latin typeface="IBM Plex Mono"/>
              </a:defRPr>
            </a:pPr>
            <a:r>
              <a:t>PLAN B EN CASO DE CONTINGENCIA DE RED:</a:t>
            </a:r>
          </a:p>
          <a:p>
            <a:pPr>
              <a:spcBef>
                <a:spcPts val="400"/>
              </a:spcBef>
              <a:defRPr sz="1200">
                <a:solidFill>
                  <a:srgbClr val="F0F7FB"/>
                </a:solidFill>
                <a:latin typeface="IBM Plex Mono"/>
              </a:defRPr>
            </a:pPr>
            <a:r>
              <a:t>Si la red de pruebas demora más de 15 segundos, switch inmediato al video de respaldo grabado. | App en vivo: authority-khaki.vercel.app</a:t>
            </a:r>
          </a:p>
        </p:txBody>
      </p:sp>
      <p:sp>
        <p:nvSpPr>
          <p:cNvPr id="15" name="Rectangle 14"/>
          <p:cNvSpPr/>
          <p:nvPr/>
        </p:nvSpPr>
        <p:spPr>
          <a:xfrm>
            <a:off x="731520" y="6217920"/>
            <a:ext cx="10728655" cy="18288"/>
          </a:xfrm>
          <a:prstGeom prst="rect">
            <a:avLst/>
          </a:prstGeom>
          <a:solidFill>
            <a:srgbClr val="1A4975"/>
          </a:solidFill>
          <a:ln>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291072"/>
            <a:ext cx="7772400" cy="320040"/>
          </a:xfrm>
          <a:prstGeom prst="rect">
            <a:avLst/>
          </a:prstGeom>
          <a:noFill/>
        </p:spPr>
        <p:txBody>
          <a:bodyPr wrap="square" lIns="0" tIns="0" rIns="0" bIns="0">
            <a:spAutoFit/>
          </a:bodyPr>
          <a:lstStyle/>
          <a:p>
            <a:pPr>
              <a:defRPr sz="1100">
                <a:solidFill>
                  <a:srgbClr val="8FB6D3"/>
                </a:solidFill>
                <a:latin typeface="IBM Plex Mono"/>
              </a:defRPr>
            </a:pPr>
            <a:r>
              <a:t>Regla de la demo: Narrar consecuencias para Mateo, nunca 'le doy clic al botón azul'.</a:t>
            </a:r>
          </a:p>
        </p:txBody>
      </p:sp>
      <p:sp>
        <p:nvSpPr>
          <p:cNvPr id="17" name="TextBox 16"/>
          <p:cNvSpPr txBox="1"/>
          <p:nvPr/>
        </p:nvSpPr>
        <p:spPr>
          <a:xfrm>
            <a:off x="8686800" y="6291072"/>
            <a:ext cx="2773375" cy="320040"/>
          </a:xfrm>
          <a:prstGeom prst="rect">
            <a:avLst/>
          </a:prstGeom>
          <a:noFill/>
        </p:spPr>
        <p:txBody>
          <a:bodyPr wrap="square" lIns="0" tIns="0" rIns="0" bIns="0">
            <a:spAutoFit/>
          </a:bodyPr>
          <a:lstStyle/>
          <a:p>
            <a:pPr algn="r">
              <a:defRPr sz="1100" b="1">
                <a:solidFill>
                  <a:srgbClr val="72E0ED"/>
                </a:solidFill>
                <a:latin typeface="IBM Plex Mono"/>
              </a:defRPr>
            </a:pPr>
            <a:r>
              <a:t>1:40 - 3:10 (90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F38"/>
          </a:solidFill>
          <a:ln>
            <a:solidFill>
              <a:srgbClr val="071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38D39F"/>
                </a:solidFill>
                <a:latin typeface="IBM Plex Mono"/>
              </a:defRPr>
            </a:pPr>
            <a:r>
              <a:t>EVIDENCIA TÉCNICA · AUDITABLE POR CUALQUIER PERSONA</a:t>
            </a:r>
          </a:p>
        </p:txBody>
      </p:sp>
      <p:sp>
        <p:nvSpPr>
          <p:cNvPr id="4" name="TextBox 3"/>
          <p:cNvSpPr txBox="1"/>
          <p:nvPr/>
        </p:nvSpPr>
        <p:spPr>
          <a:xfrm>
            <a:off x="731520" y="822960"/>
            <a:ext cx="10698480" cy="822960"/>
          </a:xfrm>
          <a:prstGeom prst="rect">
            <a:avLst/>
          </a:prstGeom>
          <a:noFill/>
        </p:spPr>
        <p:txBody>
          <a:bodyPr wrap="square" lIns="0" tIns="0" rIns="0" bIns="0">
            <a:spAutoFit/>
          </a:bodyPr>
          <a:lstStyle/>
          <a:p>
            <a:pPr>
              <a:defRPr sz="2800" b="1">
                <a:solidFill>
                  <a:srgbClr val="F0F7FB"/>
                </a:solidFill>
                <a:latin typeface="Space Grotesk"/>
              </a:defRPr>
            </a:pPr>
            <a:r>
              <a:t>EVIDENCIA </a:t>
            </a:r>
            <a:r>
              <a:rPr b="1">
                <a:solidFill>
                  <a:srgbClr val="72E0ED"/>
                </a:solidFill>
              </a:rPr>
              <a:t>QUE SÍ VA</a:t>
            </a:r>
            <a:r>
              <a:rPr b="1">
                <a:solidFill>
                  <a:srgbClr val="F0F7FB"/>
                </a:solidFill>
              </a:rPr>
              <a:t> EN STELLAR</a:t>
            </a:r>
          </a:p>
        </p:txBody>
      </p:sp>
      <p:sp>
        <p:nvSpPr>
          <p:cNvPr id="5" name="Rectangle 4"/>
          <p:cNvSpPr/>
          <p:nvPr/>
        </p:nvSpPr>
        <p:spPr>
          <a:xfrm>
            <a:off x="731520" y="1828800"/>
            <a:ext cx="5486400" cy="4114800"/>
          </a:xfrm>
          <a:prstGeom prst="rect">
            <a:avLst/>
          </a:prstGeom>
          <a:solidFill>
            <a:srgbClr val="0D2744"/>
          </a:solidFill>
          <a:ln w="25400">
            <a:solidFill>
              <a:srgbClr val="0FA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4937760" cy="3566160"/>
          </a:xfrm>
          <a:prstGeom prst="rect">
            <a:avLst/>
          </a:prstGeom>
          <a:noFill/>
        </p:spPr>
        <p:txBody>
          <a:bodyPr wrap="square">
            <a:spAutoFit/>
          </a:bodyPr>
          <a:lstStyle/>
          <a:p>
            <a:pPr>
              <a:defRPr sz="1100" b="1">
                <a:solidFill>
                  <a:srgbClr val="0FAEC8"/>
                </a:solidFill>
                <a:latin typeface="IBM Plex Mono"/>
              </a:defRPr>
            </a:pPr>
            <a:r>
              <a:t>SMART CONTRACT EN STELLAR TESTNET</a:t>
            </a:r>
          </a:p>
          <a:p>
            <a:pPr>
              <a:spcBef>
                <a:spcPts val="800"/>
              </a:spcBef>
              <a:defRPr sz="1100" b="1">
                <a:solidFill>
                  <a:srgbClr val="72E0ED"/>
                </a:solidFill>
                <a:latin typeface="IBM Plex Mono"/>
              </a:defRPr>
            </a:pPr>
            <a:r>
              <a:t>CAOAFGPATXWJ6KKGXFYHY42Q4N75NOWSR3NH3K2DT7QR3YSMDGT5P2HO</a:t>
            </a:r>
          </a:p>
          <a:p>
            <a:pPr>
              <a:spcBef>
                <a:spcPts val="600"/>
              </a:spcBef>
            </a:pPr>
            <a:r>
              <a:rPr b="1" sz="1200">
                <a:solidFill>
                  <a:srgbClr val="F0F7FB"/>
                </a:solidFill>
                <a:latin typeface="IBM Plex Mono"/>
              </a:rPr>
              <a:t>• Wasm Bytecode Hash:</a:t>
            </a:r>
            <a:r>
              <a:rPr sz="1100">
                <a:solidFill>
                  <a:srgbClr val="8FB6D3"/>
                </a:solidFill>
                <a:latin typeface="IBM Plex Mono"/>
              </a:rPr>
              <a:t> ba7d1753ecf002984aee4a87c80b64af...</a:t>
            </a:r>
          </a:p>
          <a:p>
            <a:pPr>
              <a:spcBef>
                <a:spcPts val="600"/>
              </a:spcBef>
            </a:pPr>
            <a:r>
              <a:rPr b="1" sz="1200">
                <a:solidFill>
                  <a:srgbClr val="F0F7FB"/>
                </a:solidFill>
                <a:latin typeface="IBM Plex Mono"/>
              </a:rPr>
              <a:t>• Tx Registro en vivo:</a:t>
            </a:r>
            <a:r>
              <a:rPr sz="1100">
                <a:solidFill>
                  <a:srgbClr val="8FB6D3"/>
                </a:solidFill>
                <a:latin typeface="IBM Plex Mono"/>
              </a:rPr>
              <a:t> 725e126cc7998b795f32... (Evento work_reg)</a:t>
            </a:r>
          </a:p>
          <a:p>
            <a:pPr>
              <a:spcBef>
                <a:spcPts val="600"/>
              </a:spcBef>
            </a:pPr>
            <a:r>
              <a:rPr b="1" sz="1200">
                <a:solidFill>
                  <a:srgbClr val="F0F7FB"/>
                </a:solidFill>
                <a:latin typeface="IBM Plex Mono"/>
              </a:rPr>
              <a:t>• Tx Licencia de derechos:</a:t>
            </a:r>
            <a:r>
              <a:rPr sz="1100">
                <a:solidFill>
                  <a:srgbClr val="8FB6D3"/>
                </a:solidFill>
                <a:latin typeface="IBM Plex Mono"/>
              </a:rPr>
              <a:t> 30f6f7e9a1df1187d0a6... (Evento right_evt)</a:t>
            </a:r>
          </a:p>
          <a:p>
            <a:pPr>
              <a:spcBef>
                <a:spcPts val="600"/>
              </a:spcBef>
            </a:pPr>
            <a:r>
              <a:rPr b="1" sz="1200">
                <a:solidFill>
                  <a:srgbClr val="F0F7FB"/>
                </a:solidFill>
                <a:latin typeface="IBM Plex Mono"/>
              </a:rPr>
              <a:t>• Explorador Stellar Expert:</a:t>
            </a:r>
            <a:r>
              <a:rPr sz="1100">
                <a:solidFill>
                  <a:srgbClr val="8FB6D3"/>
                </a:solidFill>
                <a:latin typeface="IBM Plex Mono"/>
              </a:rPr>
              <a:t> Consultable públicamente sin permisos</a:t>
            </a:r>
          </a:p>
        </p:txBody>
      </p:sp>
      <p:sp>
        <p:nvSpPr>
          <p:cNvPr id="7" name="Rectangle 6"/>
          <p:cNvSpPr/>
          <p:nvPr/>
        </p:nvSpPr>
        <p:spPr>
          <a:xfrm>
            <a:off x="6492240" y="1828800"/>
            <a:ext cx="4937760" cy="4114800"/>
          </a:xfrm>
          <a:prstGeom prst="rect">
            <a:avLst/>
          </a:prstGeom>
          <a:solidFill>
            <a:srgbClr val="113459"/>
          </a:solidFill>
          <a:ln w="25400">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0" y="2103120"/>
            <a:ext cx="4389120" cy="3566160"/>
          </a:xfrm>
          <a:prstGeom prst="rect">
            <a:avLst/>
          </a:prstGeom>
          <a:noFill/>
        </p:spPr>
        <p:txBody>
          <a:bodyPr wrap="square">
            <a:spAutoFit/>
          </a:bodyPr>
          <a:lstStyle/>
          <a:p>
            <a:pPr>
              <a:defRPr sz="1100" b="1">
                <a:solidFill>
                  <a:srgbClr val="72E0ED"/>
                </a:solidFill>
                <a:latin typeface="IBM Plex Mono"/>
              </a:defRPr>
            </a:pPr>
            <a:r>
              <a:t>REPOSITORIO &amp; REPRODUCIBILIDAD</a:t>
            </a:r>
          </a:p>
          <a:p>
            <a:pPr>
              <a:spcBef>
                <a:spcPts val="600"/>
              </a:spcBef>
              <a:defRPr sz="2000" b="1">
                <a:solidFill>
                  <a:srgbClr val="F0F7FB"/>
                </a:solidFill>
                <a:latin typeface="Space Grotesk"/>
              </a:defRPr>
            </a:pPr>
            <a:r>
              <a:t>GitHub: nidaela/Authory</a:t>
            </a:r>
          </a:p>
          <a:p>
            <a:pPr>
              <a:spcBef>
                <a:spcPts val="1000"/>
              </a:spcBef>
              <a:defRPr sz="1200">
                <a:solidFill>
                  <a:srgbClr val="8FB6D3"/>
                </a:solidFill>
                <a:latin typeface="IBM Plex Mono"/>
              </a:defRPr>
            </a:pPr>
            <a:r>
              <a:t>• Stack: Next.js 16 (App Router) + React 19 + Tailwind CSS 4.</a:t>
            </a:r>
            <a:br/>
            <a:br/>
            <a:r>
              <a:t>• Pruebas: 9/9 suites de pruebas unitarias y focales passing.</a:t>
            </a:r>
            <a:br/>
            <a:br/>
            <a:r>
              <a:t>• Base de Datos: Persistencia híbrida en Supabase y archivos off-chain.</a:t>
            </a:r>
            <a:br/>
            <a:br/>
            <a:r>
              <a:t>• Despliegue en Producción: authority-khaki.vercel.app</a:t>
            </a:r>
          </a:p>
        </p:txBody>
      </p:sp>
      <p:sp>
        <p:nvSpPr>
          <p:cNvPr id="9" name="Rectangle 8"/>
          <p:cNvSpPr/>
          <p:nvPr/>
        </p:nvSpPr>
        <p:spPr>
          <a:xfrm>
            <a:off x="731520" y="6217920"/>
            <a:ext cx="10728655" cy="18288"/>
          </a:xfrm>
          <a:prstGeom prst="rect">
            <a:avLst/>
          </a:prstGeom>
          <a:solidFill>
            <a:srgbClr val="1A4975"/>
          </a:solidFill>
          <a:ln>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291072"/>
            <a:ext cx="7772400" cy="320040"/>
          </a:xfrm>
          <a:prstGeom prst="rect">
            <a:avLst/>
          </a:prstGeom>
          <a:noFill/>
        </p:spPr>
        <p:txBody>
          <a:bodyPr wrap="square" lIns="0" tIns="0" rIns="0" bIns="0">
            <a:spAutoFit/>
          </a:bodyPr>
          <a:lstStyle/>
          <a:p>
            <a:pPr>
              <a:defRPr sz="1100">
                <a:solidFill>
                  <a:srgbClr val="8FB6D3"/>
                </a:solidFill>
                <a:latin typeface="IBM Plex Mono"/>
              </a:defRPr>
            </a:pPr>
            <a:r>
              <a:t>Lo que sobra: Capturas sin enlace o commits vacíos. Lo que vale: El hash consultable.</a:t>
            </a:r>
          </a:p>
        </p:txBody>
      </p:sp>
      <p:sp>
        <p:nvSpPr>
          <p:cNvPr id="11" name="TextBox 10"/>
          <p:cNvSpPr txBox="1"/>
          <p:nvPr/>
        </p:nvSpPr>
        <p:spPr>
          <a:xfrm>
            <a:off x="8686800" y="6291072"/>
            <a:ext cx="2773375" cy="320040"/>
          </a:xfrm>
          <a:prstGeom prst="rect">
            <a:avLst/>
          </a:prstGeom>
          <a:noFill/>
        </p:spPr>
        <p:txBody>
          <a:bodyPr wrap="square" lIns="0" tIns="0" rIns="0" bIns="0">
            <a:spAutoFit/>
          </a:bodyPr>
          <a:lstStyle/>
          <a:p>
            <a:pPr algn="r">
              <a:defRPr sz="1100" b="1">
                <a:solidFill>
                  <a:srgbClr val="72E0ED"/>
                </a:solidFill>
                <a:latin typeface="IBM Plex Mono"/>
              </a:defRPr>
            </a:pPr>
            <a:r>
              <a:t>3:10 - 3:35 (25 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F38"/>
          </a:solidFill>
          <a:ln>
            <a:solidFill>
              <a:srgbClr val="071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72E0ED"/>
                </a:solidFill>
                <a:latin typeface="IBM Plex Mono"/>
              </a:defRPr>
            </a:pPr>
            <a:r>
              <a:t>VALIDACIÓN HONESTA · LO QUE ES CIERTO Y LO QUE FALTA</a:t>
            </a:r>
          </a:p>
        </p:txBody>
      </p:sp>
      <p:sp>
        <p:nvSpPr>
          <p:cNvPr id="4" name="TextBox 3"/>
          <p:cNvSpPr txBox="1"/>
          <p:nvPr/>
        </p:nvSpPr>
        <p:spPr>
          <a:xfrm>
            <a:off x="731520" y="822960"/>
            <a:ext cx="10698480" cy="822960"/>
          </a:xfrm>
          <a:prstGeom prst="rect">
            <a:avLst/>
          </a:prstGeom>
          <a:noFill/>
        </p:spPr>
        <p:txBody>
          <a:bodyPr wrap="square" lIns="0" tIns="0" rIns="0" bIns="0">
            <a:spAutoFit/>
          </a:bodyPr>
          <a:lstStyle/>
          <a:p>
            <a:pPr>
              <a:defRPr sz="2800" b="1">
                <a:solidFill>
                  <a:srgbClr val="F0F7FB"/>
                </a:solidFill>
                <a:latin typeface="Space Grotesk"/>
              </a:defRPr>
            </a:pPr>
            <a:r>
              <a:rPr b="1">
                <a:solidFill>
                  <a:srgbClr val="72E0ED"/>
                </a:solidFill>
              </a:rPr>
              <a:t>LO COMPROBADO</a:t>
            </a:r>
            <a:r>
              <a:rPr b="1">
                <a:solidFill>
                  <a:srgbClr val="F0F7FB"/>
                </a:solidFill>
              </a:rPr>
              <a:t> Y LO POR COMPROBAR</a:t>
            </a:r>
          </a:p>
        </p:txBody>
      </p:sp>
      <p:sp>
        <p:nvSpPr>
          <p:cNvPr id="5" name="Rectangle 4"/>
          <p:cNvSpPr/>
          <p:nvPr/>
        </p:nvSpPr>
        <p:spPr>
          <a:xfrm>
            <a:off x="731520" y="1828800"/>
            <a:ext cx="3383280" cy="4114800"/>
          </a:xfrm>
          <a:prstGeom prst="rect">
            <a:avLst/>
          </a:prstGeom>
          <a:solidFill>
            <a:srgbClr val="113459"/>
          </a:solidFill>
          <a:ln w="254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03120"/>
            <a:ext cx="3017520" cy="3566160"/>
          </a:xfrm>
          <a:prstGeom prst="rect">
            <a:avLst/>
          </a:prstGeom>
          <a:noFill/>
        </p:spPr>
        <p:txBody>
          <a:bodyPr wrap="square">
            <a:spAutoFit/>
          </a:bodyPr>
          <a:lstStyle/>
          <a:p>
            <a:pPr>
              <a:defRPr sz="1100" b="1">
                <a:solidFill>
                  <a:srgbClr val="F97316"/>
                </a:solidFill>
                <a:latin typeface="IBM Plex Mono"/>
              </a:defRPr>
            </a:pPr>
            <a:r>
              <a:t>«CREEMOS»</a:t>
            </a:r>
          </a:p>
          <a:p>
            <a:pPr>
              <a:spcBef>
                <a:spcPts val="800"/>
              </a:spcBef>
              <a:defRPr sz="1700" b="1">
                <a:solidFill>
                  <a:srgbClr val="F0F7FB"/>
                </a:solidFill>
                <a:latin typeface="Space Grotesk"/>
              </a:defRPr>
            </a:pPr>
            <a:r>
              <a:t>HIPÓTESIS CRÍTICA</a:t>
            </a:r>
          </a:p>
          <a:p>
            <a:pPr>
              <a:spcBef>
                <a:spcPts val="1200"/>
              </a:spcBef>
              <a:defRPr sz="1300">
                <a:solidFill>
                  <a:srgbClr val="8FB6D3"/>
                </a:solidFill>
                <a:latin typeface="IBM Plex Mono"/>
              </a:defRPr>
            </a:pPr>
            <a:r>
              <a:t>4 de cada 5 ilustradores independientes incluirán un enlace verificable de Authory en sus presupuestos comerciales para protegerse del plagio.</a:t>
            </a:r>
          </a:p>
        </p:txBody>
      </p:sp>
      <p:sp>
        <p:nvSpPr>
          <p:cNvPr id="7" name="Rectangle 6"/>
          <p:cNvSpPr/>
          <p:nvPr/>
        </p:nvSpPr>
        <p:spPr>
          <a:xfrm>
            <a:off x="4403750" y="1828800"/>
            <a:ext cx="3383280" cy="4114800"/>
          </a:xfrm>
          <a:prstGeom prst="rect">
            <a:avLst/>
          </a:prstGeom>
          <a:solidFill>
            <a:srgbClr val="113459"/>
          </a:solidFill>
          <a:ln w="25400">
            <a:solidFill>
              <a:srgbClr val="0FA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6630" y="2103120"/>
            <a:ext cx="3017520" cy="3566160"/>
          </a:xfrm>
          <a:prstGeom prst="rect">
            <a:avLst/>
          </a:prstGeom>
          <a:noFill/>
        </p:spPr>
        <p:txBody>
          <a:bodyPr wrap="square">
            <a:spAutoFit/>
          </a:bodyPr>
          <a:lstStyle/>
          <a:p>
            <a:pPr>
              <a:defRPr sz="1100" b="1">
                <a:solidFill>
                  <a:srgbClr val="0FAEC8"/>
                </a:solidFill>
                <a:latin typeface="IBM Plex Mono"/>
              </a:defRPr>
            </a:pPr>
            <a:r>
              <a:t>«OBSERVAMOS»</a:t>
            </a:r>
          </a:p>
          <a:p>
            <a:pPr>
              <a:spcBef>
                <a:spcPts val="800"/>
              </a:spcBef>
              <a:defRPr sz="1700" b="1">
                <a:solidFill>
                  <a:srgbClr val="F0F7FB"/>
                </a:solidFill>
                <a:latin typeface="Space Grotesk"/>
              </a:defRPr>
            </a:pPr>
            <a:r>
              <a:t>AJUSTE INTERNO</a:t>
            </a:r>
          </a:p>
          <a:p>
            <a:pPr>
              <a:spcBef>
                <a:spcPts val="1200"/>
              </a:spcBef>
              <a:defRPr sz="1300">
                <a:solidFill>
                  <a:srgbClr val="8FB6D3"/>
                </a:solidFill>
                <a:latin typeface="IBM Plex Mono"/>
              </a:defRPr>
            </a:pPr>
            <a:r>
              <a:t>Exigir wallet y gas en el onboarding expulsaba a creadores Web2. Ajustamos la UX para calcular SHA-256 en RAM instantáneamente sin barreras de entrada.</a:t>
            </a:r>
          </a:p>
        </p:txBody>
      </p:sp>
      <p:sp>
        <p:nvSpPr>
          <p:cNvPr id="9" name="Rectangle 8"/>
          <p:cNvSpPr/>
          <p:nvPr/>
        </p:nvSpPr>
        <p:spPr>
          <a:xfrm>
            <a:off x="8075980" y="1828800"/>
            <a:ext cx="3383280" cy="4114800"/>
          </a:xfrm>
          <a:prstGeom prst="rect">
            <a:avLst/>
          </a:prstGeom>
          <a:solidFill>
            <a:srgbClr val="113459"/>
          </a:solidFill>
          <a:ln w="25400">
            <a:solidFill>
              <a:srgbClr val="38D39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8860" y="2103120"/>
            <a:ext cx="3017520" cy="3566160"/>
          </a:xfrm>
          <a:prstGeom prst="rect">
            <a:avLst/>
          </a:prstGeom>
          <a:noFill/>
        </p:spPr>
        <p:txBody>
          <a:bodyPr wrap="square">
            <a:spAutoFit/>
          </a:bodyPr>
          <a:lstStyle/>
          <a:p>
            <a:pPr>
              <a:defRPr sz="1100" b="1">
                <a:solidFill>
                  <a:srgbClr val="38D39F"/>
                </a:solidFill>
                <a:latin typeface="IBM Plex Mono"/>
              </a:defRPr>
            </a:pPr>
            <a:r>
              <a:t>«COMPROBAMOS»</a:t>
            </a:r>
          </a:p>
          <a:p>
            <a:pPr>
              <a:spcBef>
                <a:spcPts val="800"/>
              </a:spcBef>
              <a:defRPr sz="1700" b="1">
                <a:solidFill>
                  <a:srgbClr val="F0F7FB"/>
                </a:solidFill>
                <a:latin typeface="Space Grotesk"/>
              </a:defRPr>
            </a:pPr>
            <a:r>
              <a:t>EVIDENCIA TÉCNICA</a:t>
            </a:r>
          </a:p>
          <a:p>
            <a:pPr>
              <a:spcBef>
                <a:spcPts val="1200"/>
              </a:spcBef>
              <a:defRPr sz="1300">
                <a:solidFill>
                  <a:srgbClr val="8FB6D3"/>
                </a:solidFill>
                <a:latin typeface="IBM Plex Mono"/>
              </a:defRPr>
            </a:pPr>
            <a:r>
              <a:t>Smart contract propio de 5 métodos en Soroban ejecutando atestaciones inmutables en menos de 3 segundos sobre Testnet con eventos nativos.</a:t>
            </a:r>
          </a:p>
        </p:txBody>
      </p:sp>
      <p:sp>
        <p:nvSpPr>
          <p:cNvPr id="11" name="Rectangle 10"/>
          <p:cNvSpPr/>
          <p:nvPr/>
        </p:nvSpPr>
        <p:spPr>
          <a:xfrm>
            <a:off x="731520" y="6217920"/>
            <a:ext cx="10728655" cy="18288"/>
          </a:xfrm>
          <a:prstGeom prst="rect">
            <a:avLst/>
          </a:prstGeom>
          <a:solidFill>
            <a:srgbClr val="1A4975"/>
          </a:solidFill>
          <a:ln>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291072"/>
            <a:ext cx="7772400" cy="320040"/>
          </a:xfrm>
          <a:prstGeom prst="rect">
            <a:avLst/>
          </a:prstGeom>
          <a:noFill/>
        </p:spPr>
        <p:txBody>
          <a:bodyPr wrap="square" lIns="0" tIns="0" rIns="0" bIns="0">
            <a:spAutoFit/>
          </a:bodyPr>
          <a:lstStyle/>
          <a:p>
            <a:pPr>
              <a:defRPr sz="1100">
                <a:solidFill>
                  <a:srgbClr val="8FB6D3"/>
                </a:solidFill>
                <a:latin typeface="IBM Plex Mono"/>
              </a:defRPr>
            </a:pPr>
            <a:r>
              <a:t>Decir con honestidad lo que falta no debilita la presentación: la hace creíble.</a:t>
            </a:r>
          </a:p>
        </p:txBody>
      </p:sp>
      <p:sp>
        <p:nvSpPr>
          <p:cNvPr id="13" name="TextBox 12"/>
          <p:cNvSpPr txBox="1"/>
          <p:nvPr/>
        </p:nvSpPr>
        <p:spPr>
          <a:xfrm>
            <a:off x="8686800" y="6291072"/>
            <a:ext cx="2773375" cy="320040"/>
          </a:xfrm>
          <a:prstGeom prst="rect">
            <a:avLst/>
          </a:prstGeom>
          <a:noFill/>
        </p:spPr>
        <p:txBody>
          <a:bodyPr wrap="square" lIns="0" tIns="0" rIns="0" bIns="0">
            <a:spAutoFit/>
          </a:bodyPr>
          <a:lstStyle/>
          <a:p>
            <a:pPr algn="r">
              <a:defRPr sz="1100" b="1">
                <a:solidFill>
                  <a:srgbClr val="72E0ED"/>
                </a:solidFill>
                <a:latin typeface="IBM Plex Mono"/>
              </a:defRPr>
            </a:pPr>
            <a:r>
              <a:t>3:35 - 4:00 (25 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F38"/>
          </a:solidFill>
          <a:ln>
            <a:solidFill>
              <a:srgbClr val="071F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365760"/>
          </a:xfrm>
          <a:prstGeom prst="rect">
            <a:avLst/>
          </a:prstGeom>
          <a:noFill/>
        </p:spPr>
        <p:txBody>
          <a:bodyPr wrap="square" lIns="0" tIns="0" rIns="0" bIns="0">
            <a:spAutoFit/>
          </a:bodyPr>
          <a:lstStyle/>
          <a:p>
            <a:pPr>
              <a:defRPr sz="1100" b="1">
                <a:solidFill>
                  <a:srgbClr val="38D39F"/>
                </a:solidFill>
                <a:latin typeface="IBM Plex Mono"/>
              </a:defRPr>
            </a:pPr>
            <a:r>
              <a:t>EL CIERRE DE LA HISTORIA · VOLVER AL USUARIO, NUNCA '¿PREGUNTAS?'</a:t>
            </a:r>
          </a:p>
        </p:txBody>
      </p:sp>
      <p:sp>
        <p:nvSpPr>
          <p:cNvPr id="4" name="TextBox 3"/>
          <p:cNvSpPr txBox="1"/>
          <p:nvPr/>
        </p:nvSpPr>
        <p:spPr>
          <a:xfrm>
            <a:off x="731520" y="822960"/>
            <a:ext cx="10698480" cy="822960"/>
          </a:xfrm>
          <a:prstGeom prst="rect">
            <a:avLst/>
          </a:prstGeom>
          <a:noFill/>
        </p:spPr>
        <p:txBody>
          <a:bodyPr wrap="square" lIns="0" tIns="0" rIns="0" bIns="0">
            <a:spAutoFit/>
          </a:bodyPr>
          <a:lstStyle/>
          <a:p>
            <a:pPr>
              <a:defRPr sz="2800" b="1">
                <a:solidFill>
                  <a:srgbClr val="F0F7FB"/>
                </a:solidFill>
                <a:latin typeface="Space Grotesk"/>
              </a:defRPr>
            </a:pPr>
            <a:r>
              <a:t>EL FUTURO DE AUTHORY: </a:t>
            </a:r>
            <a:r>
              <a:rPr b="1">
                <a:solidFill>
                  <a:srgbClr val="72E0ED"/>
                </a:solidFill>
              </a:rPr>
              <a:t>PEDIDO CONCRETO</a:t>
            </a:r>
          </a:p>
        </p:txBody>
      </p:sp>
      <p:sp>
        <p:nvSpPr>
          <p:cNvPr id="5" name="Rectangle 4"/>
          <p:cNvSpPr/>
          <p:nvPr/>
        </p:nvSpPr>
        <p:spPr>
          <a:xfrm>
            <a:off x="731520" y="1828800"/>
            <a:ext cx="5212080" cy="3108960"/>
          </a:xfrm>
          <a:prstGeom prst="rect">
            <a:avLst/>
          </a:prstGeom>
          <a:solidFill>
            <a:srgbClr val="0D2744"/>
          </a:solidFill>
          <a:ln w="25400">
            <a:solidFill>
              <a:srgbClr val="0FA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4663440" cy="2560320"/>
          </a:xfrm>
          <a:prstGeom prst="rect">
            <a:avLst/>
          </a:prstGeom>
          <a:noFill/>
        </p:spPr>
        <p:txBody>
          <a:bodyPr wrap="square">
            <a:spAutoFit/>
          </a:bodyPr>
          <a:lstStyle/>
          <a:p>
            <a:pPr>
              <a:defRPr sz="1100" b="1">
                <a:solidFill>
                  <a:srgbClr val="0FAEC8"/>
                </a:solidFill>
                <a:latin typeface="IBM Plex Mono"/>
              </a:defRPr>
            </a:pPr>
            <a:r>
              <a:t>HOJA DE RUTA (PRÓXIMOS 30 DÍAS)</a:t>
            </a:r>
          </a:p>
          <a:p>
            <a:pPr>
              <a:spcBef>
                <a:spcPts val="600"/>
              </a:spcBef>
              <a:defRPr sz="1800" b="1">
                <a:solidFill>
                  <a:srgbClr val="F0F7FB"/>
                </a:solidFill>
                <a:latin typeface="Space Grotesk"/>
              </a:defRPr>
            </a:pPr>
            <a:r>
              <a:t>Hacia la Autocustodia Web3</a:t>
            </a:r>
          </a:p>
          <a:p>
            <a:pPr>
              <a:spcBef>
                <a:spcPts val="1000"/>
              </a:spcBef>
              <a:defRPr sz="1200">
                <a:solidFill>
                  <a:srgbClr val="8FB6D3"/>
                </a:solidFill>
                <a:latin typeface="IBM Plex Mono"/>
              </a:defRPr>
            </a:pPr>
            <a:r>
              <a:t>1. Integrar Stellar Wallets Kit (Freighter, xBull, Lobstr) para que cada autor firme transacciones con su propia clave privada.</a:t>
            </a:r>
            <a:br/>
            <a:br/>
            <a:r>
              <a:t>2. Lanzar piloto controlado con 10 ilustradores independientes en Colombia y México.</a:t>
            </a:r>
          </a:p>
        </p:txBody>
      </p:sp>
      <p:sp>
        <p:nvSpPr>
          <p:cNvPr id="7" name="Rectangle 6"/>
          <p:cNvSpPr/>
          <p:nvPr/>
        </p:nvSpPr>
        <p:spPr>
          <a:xfrm>
            <a:off x="6217920" y="1828800"/>
            <a:ext cx="5212080" cy="3108960"/>
          </a:xfrm>
          <a:prstGeom prst="rect">
            <a:avLst/>
          </a:prstGeom>
          <a:solidFill>
            <a:srgbClr val="113459"/>
          </a:solidFill>
          <a:ln w="254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103120"/>
            <a:ext cx="4663440" cy="2560320"/>
          </a:xfrm>
          <a:prstGeom prst="rect">
            <a:avLst/>
          </a:prstGeom>
          <a:noFill/>
        </p:spPr>
        <p:txBody>
          <a:bodyPr wrap="square">
            <a:spAutoFit/>
          </a:bodyPr>
          <a:lstStyle/>
          <a:p>
            <a:pPr>
              <a:defRPr sz="1100" b="1">
                <a:solidFill>
                  <a:srgbClr val="F97316"/>
                </a:solidFill>
                <a:latin typeface="IBM Plex Mono"/>
              </a:defRPr>
            </a:pPr>
            <a:r>
              <a:t>PEDIDO CONCRETO AL JURADO Y MENTORES</a:t>
            </a:r>
          </a:p>
          <a:p>
            <a:pPr>
              <a:spcBef>
                <a:spcPts val="600"/>
              </a:spcBef>
              <a:defRPr sz="1800" b="1">
                <a:solidFill>
                  <a:srgbClr val="72E0ED"/>
                </a:solidFill>
                <a:latin typeface="Space Grotesk"/>
              </a:defRPr>
            </a:pPr>
            <a:r>
              <a:t>¿Cómo nos pueden apoyar hoy?</a:t>
            </a:r>
          </a:p>
          <a:p>
            <a:pPr>
              <a:spcBef>
                <a:spcPts val="1000"/>
              </a:spcBef>
              <a:defRPr sz="1400" b="1">
                <a:solidFill>
                  <a:srgbClr val="F0F7FB"/>
                </a:solidFill>
                <a:latin typeface="IBM Plex Mono"/>
              </a:defRPr>
            </a:pPr>
            <a:r>
              <a:t>«Buscamos 5 agencias creativas y 10 creadores independientes que quieran proteger y certificar sus próximas 3 entregas comerciales con Authory.»</a:t>
            </a:r>
          </a:p>
        </p:txBody>
      </p:sp>
      <p:sp>
        <p:nvSpPr>
          <p:cNvPr id="9" name="Rectangle 8"/>
          <p:cNvSpPr/>
          <p:nvPr/>
        </p:nvSpPr>
        <p:spPr>
          <a:xfrm>
            <a:off x="731520" y="5120640"/>
            <a:ext cx="10728655" cy="868680"/>
          </a:xfrm>
          <a:prstGeom prst="rect">
            <a:avLst/>
          </a:prstGeom>
          <a:solidFill>
            <a:srgbClr val="0D2744"/>
          </a:solidFill>
          <a:ln w="25400">
            <a:solidFill>
              <a:srgbClr val="38D39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257800"/>
            <a:ext cx="10180015" cy="640080"/>
          </a:xfrm>
          <a:prstGeom prst="rect">
            <a:avLst/>
          </a:prstGeom>
          <a:noFill/>
        </p:spPr>
        <p:txBody>
          <a:bodyPr wrap="square">
            <a:spAutoFit/>
          </a:bodyPr>
          <a:lstStyle/>
          <a:p>
            <a:pPr>
              <a:defRPr sz="1000" b="1">
                <a:solidFill>
                  <a:srgbClr val="38D39F"/>
                </a:solidFill>
                <a:latin typeface="IBM Plex Mono"/>
              </a:defRPr>
            </a:pPr>
            <a:r>
              <a:t>🎨 LA ÚLTIMA IMAGEN NO ES UN CONTRATO NI UN CÓDIGO:</a:t>
            </a:r>
          </a:p>
          <a:p>
            <a:pPr>
              <a:spcBef>
                <a:spcPts val="200"/>
              </a:spcBef>
              <a:defRPr sz="1400" b="1">
                <a:solidFill>
                  <a:srgbClr val="F0F7FB"/>
                </a:solidFill>
                <a:latin typeface="Space Grotesk"/>
              </a:defRPr>
            </a:pPr>
            <a:r>
              <a:t>Es Mateo cobrando su trabajo a tiempo y la editorial publicando con total tranquilidad jurídica.</a:t>
            </a:r>
          </a:p>
        </p:txBody>
      </p:sp>
      <p:sp>
        <p:nvSpPr>
          <p:cNvPr id="11" name="Rectangle 10"/>
          <p:cNvSpPr/>
          <p:nvPr/>
        </p:nvSpPr>
        <p:spPr>
          <a:xfrm>
            <a:off x="731520" y="6217920"/>
            <a:ext cx="10728655" cy="18288"/>
          </a:xfrm>
          <a:prstGeom prst="rect">
            <a:avLst/>
          </a:prstGeom>
          <a:solidFill>
            <a:srgbClr val="1A4975"/>
          </a:solidFill>
          <a:ln>
            <a:solidFill>
              <a:srgbClr val="1A49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291072"/>
            <a:ext cx="7772400" cy="320040"/>
          </a:xfrm>
          <a:prstGeom prst="rect">
            <a:avLst/>
          </a:prstGeom>
          <a:noFill/>
        </p:spPr>
        <p:txBody>
          <a:bodyPr wrap="square" lIns="0" tIns="0" rIns="0" bIns="0">
            <a:spAutoFit/>
          </a:bodyPr>
          <a:lstStyle/>
          <a:p>
            <a:pPr>
              <a:defRPr sz="1100">
                <a:solidFill>
                  <a:srgbClr val="8FB6D3"/>
                </a:solidFill>
                <a:latin typeface="IBM Plex Mono"/>
              </a:defRPr>
            </a:pPr>
            <a:r>
              <a:t>¡MUCHAS GRACIAS! · github.com/nidaela/Authory</a:t>
            </a:r>
          </a:p>
        </p:txBody>
      </p:sp>
      <p:sp>
        <p:nvSpPr>
          <p:cNvPr id="13" name="TextBox 12"/>
          <p:cNvSpPr txBox="1"/>
          <p:nvPr/>
        </p:nvSpPr>
        <p:spPr>
          <a:xfrm>
            <a:off x="8686800" y="6291072"/>
            <a:ext cx="2773375" cy="320040"/>
          </a:xfrm>
          <a:prstGeom prst="rect">
            <a:avLst/>
          </a:prstGeom>
          <a:noFill/>
        </p:spPr>
        <p:txBody>
          <a:bodyPr wrap="square" lIns="0" tIns="0" rIns="0" bIns="0">
            <a:spAutoFit/>
          </a:bodyPr>
          <a:lstStyle/>
          <a:p>
            <a:pPr algn="r">
              <a:defRPr sz="1100" b="1">
                <a:solidFill>
                  <a:srgbClr val="72E0ED"/>
                </a:solidFill>
                <a:latin typeface="IBM Plex Mono"/>
              </a:defRPr>
            </a:pPr>
            <a:r>
              <a:t>4:00 - 4:30 (30 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