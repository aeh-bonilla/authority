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SPEECH DEL ORADOR ===</a:t>
            </a:r>
          </a:p>
          <a:p/>
          <a:p>
            <a:r>
              <a:t>«Buenas tardes a todos, miembros del jurado y comunidad. Somos el equipo de Authory, proyecto finalista de México, y hoy venimos a presentarles la infraestructura sobre la red Stellar para que los creadores independientes certifiquen su autoría y comercialicen sus derechos con total certeza.»</a:t>
            </a:r>
          </a:p>
          <a:p/>
          <a:p>
            <a:r>
              <a:t>=== PAUTAS OPERATIVAS &amp; PLAN B ===</a:t>
            </a:r>
          </a:p>
          <a:p/>
          <a:p>
            <a:r>
              <a:t>PANTALLA: Portada institucional.</a:t>
            </a:r>
          </a:p>
          <a:p>
            <a:r>
              <a:t>LOGÍSTICA: Cámaras encendidas, micrófono probado.</a:t>
            </a:r>
          </a:p>
          <a:p>
            <a:r>
              <a:t>DRIVER: Pantalla en foco con demo lista en otra pestaña.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SPEECH DEL ORADOR ===</a:t>
            </a:r>
          </a:p>
          <a:p/>
          <a:p>
            <a:r>
              <a:t>«Les presento a Mateo. Mateo es un ilustrador independiente. Hace tres meses, invirtió semanas creando una serie de personajes para una agencia comercial. Entregó bocetos por correo, compartió carpetas en la nube y, cuando el proyecto se canceló supuestamente 'por presupuesto', vio sus ilustraciones impresas en vallas publicitarias sin su crédito y sin un solo centavo de pago.</a:t>
            </a:r>
          </a:p>
          <a:p/>
          <a:p>
            <a:r>
              <a:t>El caso de Mateo no es un accidente aislado: según la Freelancers Union y la OMPI, más del 71% de los creadores independientes han sufrido apropiación o impago de sus trabajos. ¿Por qué no reclaman? Porque hoy sus únicas pruebas son fechas locales de Photoshop o cadenas de correo que cualquier peritaje puede descartar. Reclamar cuesta más dinero y tiempo que lo que vale el proyecto.»</a:t>
            </a:r>
          </a:p>
          <a:p/>
          <a:p>
            <a:r>
              <a:t>=== PAUTAS OPERATIVAS &amp; PLAN B ===</a:t>
            </a:r>
          </a:p>
          <a:p/>
          <a:p>
            <a:r>
              <a:t>PANTALLA: Ficha de Mateo y el 71% en grande.</a:t>
            </a:r>
          </a:p>
          <a:p>
            <a:r>
              <a:t>DRIVER: Contacto visual con la cámara, atento al ritmo.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SPEECH DEL ORADOR ===</a:t>
            </a:r>
          </a:p>
          <a:p/>
          <a:p>
            <a:r>
              <a:t>«Aquí intervienen dos partes con una fricción mutua: Mateo necesita una prueba de existencia inmutable desde el minuto cero; y del otro lado, las editoriales y compradores honestos necesitan comprobar que quien les vende una obra realmente tiene la titularidad legítima para licenciarla, sin tener que esperar semanas de trámites notariales.»</a:t>
            </a:r>
          </a:p>
          <a:p/>
          <a:p>
            <a:r>
              <a:t>=== PAUTAS OPERATIVAS &amp; PLAN B ===</a:t>
            </a:r>
          </a:p>
          <a:p/>
          <a:p>
            <a:r>
              <a:t>PANTALLA: Comparativa Mateo vs Editorial.</a:t>
            </a:r>
          </a:p>
          <a:p>
            <a:r>
              <a:t>DRIVER: Comprueba pestaña de Vercel lista en `authority-khaki.vercel.app`.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SPEECH DEL ORADOR ===</a:t>
            </a:r>
          </a:p>
          <a:p/>
          <a:p>
            <a:r>
              <a:t>«Para resolver esta asimetría y devolverle el control a los creadores, construimos Authory.</a:t>
            </a:r>
          </a:p>
          <a:p>
            <a:r>
              <a:t>Para ilustradores como Mateo, Authory permite generar un pasaporte digital y un sello temporal inmutable en Stellar manteniendo el archivo original estrictamente confidencial.</a:t>
            </a:r>
          </a:p>
          <a:p/>
          <a:p>
            <a:r>
              <a:t>La audiencia y el jurado se preguntarán: ¿Por qué blockchain y no una base de datos normal? Porque si almacenamos esto en una base de datos tradicional, la confianza depende del administrador. Si la empresa quiebra o altera un registro, la prueba muere. En la red Stellar, el sello queda anclado en un ledger distribuido que ninguna de las partes puede modificar y que cualquier persona puede verificar de por vida de forma independiente.»</a:t>
            </a:r>
          </a:p>
          <a:p/>
          <a:p>
            <a:r>
              <a:t>=== PAUTAS OPERATIVAS &amp; PLAN B ===</a:t>
            </a:r>
          </a:p>
          <a:p/>
          <a:p>
            <a:r>
              <a:t>PANTALLA: Fórmula de valor y recuadro de Blockchain.</a:t>
            </a:r>
          </a:p>
          <a:p>
            <a:r>
              <a:t>DRIVER: Prepara la ventana de navegación en `/registrar-obra`.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SPEECH DEL ORADOR ===</a:t>
            </a:r>
          </a:p>
          <a:p/>
          <a:p>
            <a:r>
              <a:t>«¿Cómo comprueba cualquier persona en el mundo que esto no es un truco de interfaz? Aquí está el registro en la red pública de Stellar.</a:t>
            </a:r>
          </a:p>
          <a:p>
            <a:r>
              <a:t>Nuestro contrato inteligente está desplegado en Soroban Testnet con la dirección CAOAFGP... Tenemos transacciones reales emitidas en vivo como 725e12..., el código fuente está abierto y documentado en nuestro repositorio con guías de reproducción paso a paso, y la aplicación está desplegada y accesible hoy mismo en Vercel.»</a:t>
            </a:r>
          </a:p>
          <a:p/>
          <a:p>
            <a:r>
              <a:t>=== PAUTAS OPERATIVAS &amp; PLAN B ===</a:t>
            </a:r>
          </a:p>
          <a:p/>
          <a:p>
            <a:r>
              <a:t>PANTALLA: Hashes y enlaces de verificación en Stellar Expert.</a:t>
            </a:r>
          </a:p>
          <a:p>
            <a:r>
              <a:t>DRIVER: En foco.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SPEECH DEL ORADOR ===</a:t>
            </a:r>
          </a:p>
          <a:p/>
          <a:p>
            <a:r>
              <a:t>«Durante estas semanas aprendimos algo fundamental: la tecnología no sirve si genera fricción. En nuestras primeras pruebas descubrimos que exigirle al creador conectar una billetera con saldo de gas antes de registrar su primer dibujo hacía que el 80% abandonara. Por eso rediseñamos la experiencia: generamos el cálculo criptográfico en el cliente y la evidencia de forma transparente.</a:t>
            </a:r>
          </a:p>
          <a:p/>
          <a:p>
            <a:r>
              <a:t>Lo que observamos es que el creador busca simplicidad; lo que comprobamos es que el contrato ejecuta las atestaciones en menos de 3 segundos; y lo que vamos a validar con nuestro protocolo de 10 usuarios es que 4 de cada 5 incluirán este sello en sus cotizaciones comerciales.»</a:t>
            </a:r>
          </a:p>
          <a:p/>
          <a:p>
            <a:r>
              <a:t>=== PAUTAS OPERATIVAS &amp; PLAN B ===</a:t>
            </a:r>
          </a:p>
          <a:p/>
          <a:p>
            <a:r>
              <a:t>PANTALLA: Las 3 columnas de validación.</a:t>
            </a:r>
          </a:p>
          <a:p>
            <a:r>
              <a:t>DRIVER: Prepara la pantalla compartida de la demo.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SPEECH DEL ORADOR ===</a:t>
            </a:r>
          </a:p>
          <a:p/>
          <a:p>
            <a:r>
              <a:t>«Lo que sigue en los próximos 30 días es integrar Stellar Wallets Kit para firma descentralizada nativa y lanzar nuestro primer piloto con comunidades creativas.</a:t>
            </a:r>
          </a:p>
          <a:p/>
          <a:p>
            <a:r>
              <a:t>Por eso, hoy venimos a hacerles un pedido concreto:</a:t>
            </a:r>
          </a:p>
          <a:p>
            <a:r>
              <a:t>Buscamos 5 agencias creativas y 10 creadores independientes que quieran proteger y certificar sus próximas 3 entregas con Authory.</a:t>
            </a:r>
          </a:p>
          <a:p/>
          <a:p>
            <a:r>
              <a:t>Y para ver exactamente cómo lo vive Mateo en tiempo real, pasemos a nuestra demostración en vivo.»</a:t>
            </a:r>
          </a:p>
          <a:p/>
          <a:p>
            <a:r>
              <a:t>=== PAUTAS OPERATIVAS &amp; PLAN B ===</a:t>
            </a:r>
          </a:p>
          <a:p/>
          <a:p>
            <a:r>
              <a:t>DRIVER: Cambia inmediatamente a pantalla compartida del navegador en Vercel.</a:t>
            </a:r>
          </a:p>
          <a:p>
            <a:r>
              <a:t>TIMEKEEPER: Marca el inicio del cronómetro de 2 minutos de Demo.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SPEECH DEL ORADOR ===</a:t>
            </a:r>
          </a:p>
          <a:p/>
          <a:p>
            <a:r>
              <a:t>«(Driver en /registrar-obra) Vamos a ponernos en los zapatos de Mateo. Acaba de terminar su ilustración y necesita protegerla antes de enviarla a la agencia. Al seleccionarla, la Web Crypto API en su navegador calcula instantáneamente la huella digital matemática de la obra. Noten algo crucial: el archivo original jamás viaja por internet; su arte sigue siendo 100% privado en su máquina.</a:t>
            </a:r>
          </a:p>
          <a:p/>
          <a:p>
            <a:r>
              <a:t>(Driver hace clic en Crear evidencia) En este momento, Authory invoca nuestro contrato inteligente en Soroban Testnet. La red estampa de manera inalterable la huella digital y la fecha en el ledger de Stellar, emitiendo el evento nativo de registro. Mateo ya tiene su evidencia de autoría legalmente auditable.</a:t>
            </a:r>
          </a:p>
          <a:p/>
          <a:p>
            <a:r>
              <a:t>(Driver pasa a /verificar) Ahora cambiamos de rol y nos ponemos en el lugar de la editorial. Llega el comprador a la pantalla de verificación pública y, sin necesidad de crear cuenta, contraseñas ni pedirle permiso a Mateo, sube el archivo recibido. En menos de 3 segundos, Authory contrasta los bytes contra Stellar: confirma que el arte es original de Mateo, que la fecha precede a la campaña y que no ha sido alterado ni un solo pixel.</a:t>
            </a:r>
          </a:p>
          <a:p/>
          <a:p>
            <a:r>
              <a:t>(Driver muestra Stellar Expert) ¿Y cómo sabe la editorial que esto no es un truco de nuestra aplicación? Porque aquí está la transacción en el explorador oficial de Stellar Expert: el contrato CAOAFGP... registró la huella de forma pública e inalterable. Esta es la certeza técnica que Authory le devuelve a los creadores. Quedamos a disposición del jurado para sus preguntas.»</a:t>
            </a:r>
          </a:p>
          <a:p/>
          <a:p>
            <a:r>
              <a:t>=== PAUTAS OPERATIVAS &amp; PLAN B ===</a:t>
            </a:r>
          </a:p>
          <a:p/>
          <a:p>
            <a:r>
              <a:t>DRIVER: Ejecuta sin hablar y con movimientos limpios.</a:t>
            </a:r>
          </a:p>
          <a:p>
            <a:r>
              <a:t>ORADOR: Mantiene el ritmo y proyecta la voz.</a:t>
            </a:r>
          </a:p>
          <a:p>
            <a:r>
              <a:t>TIMEKEEPER: Al minuto 4:45 dar señal para cerrar demo y pasar a Q&amp;A.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SPEECH DEL ORADOR ===</a:t>
            </a:r>
          </a:p>
          <a:p/>
          <a:p>
            <a:r>
              <a:t>«El equipo está listo para responder las preguntas del jurado.</a:t>
            </a:r>
          </a:p>
          <a:p/>
          <a:p>
            <a:r>
              <a:t>Recordatorios clave:</a:t>
            </a:r>
          </a:p>
          <a:p>
            <a:r>
              <a:t>• Si preguntan por qué no Postgres: Responder sobre neutralidad probatoria e inmutabilidad.</a:t>
            </a:r>
          </a:p>
          <a:p>
            <a:r>
              <a:t>• Si preguntan por fraude previo: Responder que la blockchain garantiza precedencia temporal matemática, no verdad física.</a:t>
            </a:r>
          </a:p>
          <a:p>
            <a:r>
              <a:t>• Si preguntan por gas/comisiones: Indicar que cuesta menos de $0.001 USD y que se patrocina en onboarding.</a:t>
            </a:r>
          </a:p>
          <a:p>
            <a:r>
              <a:t>• Si preguntan por privacidad: Enfatizar que el archivo original nunca toca la blockchain ni viaja por internet.»</a:t>
            </a:r>
          </a:p>
          <a:p/>
          <a:p>
            <a:r>
              <a:t>=== PAUTAS OPERATIVAS &amp; PLAN B ===</a:t>
            </a:r>
          </a:p>
          <a:p/>
          <a:p>
            <a:r>
              <a:t>JURADO: Respuestas de máximo 35 segundos para permitir 2 a 3 preguntas completas.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38"/>
          </a:solidFill>
          <a:ln>
            <a:solidFill>
              <a:srgbClr val="07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lIns="0" tIns="0" rIns="0" bIns="0">
            <a:spAutoFit/>
          </a:bodyPr>
          <a:lstStyle/>
          <a:p>
            <a:pPr>
              <a:defRPr sz="1100" b="1">
                <a:solidFill>
                  <a:srgbClr val="0FAEC8"/>
                </a:solidFill>
                <a:latin typeface="IBM Plex Mono"/>
              </a:defRPr>
            </a:pPr>
            <a:r>
              <a:t>BLOCKCHAIN BUILDERS 101 · PROYECTO FINALISTA #1 DE MÉXICO · STELLAR × BAF</a:t>
            </a:r>
          </a:p>
        </p:txBody>
      </p:sp>
      <p:sp>
        <p:nvSpPr>
          <p:cNvPr id="4" name="TextBox 3"/>
          <p:cNvSpPr txBox="1"/>
          <p:nvPr/>
        </p:nvSpPr>
        <p:spPr>
          <a:xfrm>
            <a:off x="731520" y="777240"/>
            <a:ext cx="10698480" cy="822960"/>
          </a:xfrm>
          <a:prstGeom prst="rect">
            <a:avLst/>
          </a:prstGeom>
          <a:noFill/>
        </p:spPr>
        <p:txBody>
          <a:bodyPr wrap="square" lIns="0" tIns="0" rIns="0" bIns="0">
            <a:spAutoFit/>
          </a:bodyPr>
          <a:lstStyle/>
          <a:p>
            <a:pPr>
              <a:defRPr sz="2700" b="1">
                <a:solidFill>
                  <a:srgbClr val="F0F7FB"/>
                </a:solidFill>
                <a:latin typeface="Space Grotesk"/>
              </a:defRPr>
            </a:pPr>
            <a:r>
              <a:t>AUTHORY: </a:t>
            </a:r>
            <a:r>
              <a:rPr b="1">
                <a:solidFill>
                  <a:srgbClr val="72E0ED"/>
                </a:solidFill>
              </a:rPr>
              <a:t>MEMORIA INALTERABLE</a:t>
            </a:r>
            <a:r>
              <a:rPr b="1">
                <a:solidFill>
                  <a:srgbClr val="F0F7FB"/>
                </a:solidFill>
              </a:rPr>
              <a:t> Y DERECHOS EN STELLAR</a:t>
            </a:r>
          </a:p>
        </p:txBody>
      </p:sp>
      <p:sp>
        <p:nvSpPr>
          <p:cNvPr id="5" name="Rectangle 4"/>
          <p:cNvSpPr/>
          <p:nvPr/>
        </p:nvSpPr>
        <p:spPr>
          <a:xfrm>
            <a:off x="731520" y="1783080"/>
            <a:ext cx="6035040" cy="4160520"/>
          </a:xfrm>
          <a:prstGeom prst="rect">
            <a:avLst/>
          </a:prstGeom>
          <a:solidFill>
            <a:srgbClr val="0D2744"/>
          </a:solidFill>
          <a:ln w="25400">
            <a:solidFill>
              <a:srgbClr val="0FA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5486400" cy="3657600"/>
          </a:xfrm>
          <a:prstGeom prst="rect">
            <a:avLst/>
          </a:prstGeom>
          <a:noFill/>
        </p:spPr>
        <p:txBody>
          <a:bodyPr wrap="square">
            <a:spAutoFit/>
          </a:bodyPr>
          <a:lstStyle/>
          <a:p>
            <a:pPr>
              <a:defRPr sz="1100" b="1">
                <a:solidFill>
                  <a:srgbClr val="0FAEC8"/>
                </a:solidFill>
                <a:latin typeface="IBM Plex Mono"/>
              </a:defRPr>
            </a:pPr>
            <a:r>
              <a:t>PROPUESTA CENTRAL</a:t>
            </a:r>
          </a:p>
          <a:p>
            <a:pPr>
              <a:spcBef>
                <a:spcPts val="800"/>
              </a:spcBef>
              <a:defRPr sz="2000" b="1">
                <a:solidFill>
                  <a:srgbClr val="F0F7FB"/>
                </a:solidFill>
                <a:latin typeface="Space Grotesk"/>
              </a:defRPr>
            </a:pPr>
            <a:r>
              <a:t>Atestación criptográfica de autoría y licencias</a:t>
            </a:r>
          </a:p>
          <a:p>
            <a:pPr>
              <a:spcBef>
                <a:spcPts val="1200"/>
              </a:spcBef>
              <a:defRPr sz="1300">
                <a:solidFill>
                  <a:srgbClr val="8FB6D3"/>
                </a:solidFill>
                <a:latin typeface="IBM Plex Mono"/>
              </a:defRPr>
            </a:pPr>
            <a:r>
              <a:t>Permite a creadores digitales y artistas estampar una huella inmutable de sus obras en Stellar Testnet, manteniendo el archivo original 100% privado y permitiendo auditoría pública sin intermediarios.</a:t>
            </a:r>
          </a:p>
          <a:p>
            <a:pPr>
              <a:spcBef>
                <a:spcPts val="1800"/>
              </a:spcBef>
              <a:defRPr sz="1100" b="1">
                <a:solidFill>
                  <a:srgbClr val="72E0ED"/>
                </a:solidFill>
                <a:latin typeface="IBM Plex Mono"/>
              </a:defRPr>
            </a:pPr>
            <a:r>
              <a:t>[ SOROBAN SMART CONTRACT ]  [ SHA-256 NATIVO ]  [ NEXT.JS 16 ]</a:t>
            </a:r>
          </a:p>
        </p:txBody>
      </p:sp>
      <p:sp>
        <p:nvSpPr>
          <p:cNvPr id="7" name="Rectangle 6"/>
          <p:cNvSpPr/>
          <p:nvPr/>
        </p:nvSpPr>
        <p:spPr>
          <a:xfrm>
            <a:off x="7040880" y="1783080"/>
            <a:ext cx="4389120" cy="4160520"/>
          </a:xfrm>
          <a:prstGeom prst="rect">
            <a:avLst/>
          </a:prstGeom>
          <a:solidFill>
            <a:srgbClr val="113459"/>
          </a:solidFill>
          <a:ln w="25400">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2011680"/>
            <a:ext cx="3840480" cy="3657600"/>
          </a:xfrm>
          <a:prstGeom prst="rect">
            <a:avLst/>
          </a:prstGeom>
          <a:noFill/>
        </p:spPr>
        <p:txBody>
          <a:bodyPr wrap="square">
            <a:spAutoFit/>
          </a:bodyPr>
          <a:lstStyle/>
          <a:p>
            <a:pPr>
              <a:defRPr sz="1100" b="1">
                <a:solidFill>
                  <a:srgbClr val="72E0ED"/>
                </a:solidFill>
                <a:latin typeface="IBM Plex Mono"/>
              </a:defRPr>
            </a:pPr>
            <a:r>
              <a:t>EQUIPO DE DESARROLLO</a:t>
            </a:r>
          </a:p>
          <a:p>
            <a:pPr>
              <a:spcBef>
                <a:spcPts val="800"/>
              </a:spcBef>
              <a:defRPr sz="1200">
                <a:solidFill>
                  <a:srgbClr val="F0F7FB"/>
                </a:solidFill>
                <a:latin typeface="IBM Plex Mono"/>
              </a:defRPr>
            </a:pPr>
            <a:r>
              <a:t>• Alain Bonilla</a:t>
            </a:r>
            <a:br/>
            <a:r>
              <a:t>  Frontend 02, Arquitectura Stellar, Smart Contract</a:t>
            </a:r>
          </a:p>
          <a:p>
            <a:pPr>
              <a:spcBef>
                <a:spcPts val="800"/>
              </a:spcBef>
              <a:defRPr sz="1200">
                <a:solidFill>
                  <a:srgbClr val="F0F7FB"/>
                </a:solidFill>
                <a:latin typeface="IBM Plex Mono"/>
              </a:defRPr>
            </a:pPr>
            <a:r>
              <a:t>• Daniela Ramírez</a:t>
            </a:r>
            <a:br/>
            <a:r>
              <a:t>  Frontend Foundation, Coordinación del Repositorio</a:t>
            </a:r>
          </a:p>
          <a:p>
            <a:pPr>
              <a:spcBef>
                <a:spcPts val="800"/>
              </a:spcBef>
              <a:defRPr sz="1200">
                <a:solidFill>
                  <a:srgbClr val="F0F7FB"/>
                </a:solidFill>
                <a:latin typeface="IBM Plex Mono"/>
              </a:defRPr>
            </a:pPr>
            <a:r>
              <a:t>• Selene Escalona</a:t>
            </a:r>
            <a:br/>
            <a:r>
              <a:t>  Propuesta de Problema, Lean Canvas, Specs Soroban</a:t>
            </a:r>
          </a:p>
          <a:p>
            <a:pPr>
              <a:spcBef>
                <a:spcPts val="800"/>
              </a:spcBef>
              <a:defRPr sz="1200">
                <a:solidFill>
                  <a:srgbClr val="F0F7FB"/>
                </a:solidFill>
                <a:latin typeface="IBM Plex Mono"/>
              </a:defRPr>
            </a:pPr>
            <a:r>
              <a:t>• Rodrigo Ramírez</a:t>
            </a:r>
            <a:br/>
            <a:r>
              <a:t>  Historias de Usuario, Backlog MVP</a:t>
            </a:r>
          </a:p>
          <a:p>
            <a:pPr>
              <a:spcBef>
                <a:spcPts val="800"/>
              </a:spcBef>
              <a:defRPr sz="1200">
                <a:solidFill>
                  <a:srgbClr val="F0F7FB"/>
                </a:solidFill>
                <a:latin typeface="IBM Plex Mono"/>
              </a:defRPr>
            </a:pPr>
            <a:r>
              <a:t>• Owen Isaac Bailón</a:t>
            </a:r>
            <a:br/>
            <a:r>
              <a:t>  Módulo de Verificación Pública</a:t>
            </a:r>
          </a:p>
        </p:txBody>
      </p:sp>
      <p:sp>
        <p:nvSpPr>
          <p:cNvPr id="9" name="Rectangle 8"/>
          <p:cNvSpPr/>
          <p:nvPr/>
        </p:nvSpPr>
        <p:spPr>
          <a:xfrm>
            <a:off x="731520" y="6236208"/>
            <a:ext cx="10728655" cy="18288"/>
          </a:xfrm>
          <a:prstGeom prst="rect">
            <a:avLst/>
          </a:prstGeom>
          <a:solidFill>
            <a:srgbClr val="1A4975"/>
          </a:solidFill>
          <a:ln>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09360"/>
            <a:ext cx="7772400" cy="320040"/>
          </a:xfrm>
          <a:prstGeom prst="rect">
            <a:avLst/>
          </a:prstGeom>
          <a:noFill/>
        </p:spPr>
        <p:txBody>
          <a:bodyPr wrap="square" lIns="0" tIns="0" rIns="0" bIns="0">
            <a:spAutoFit/>
          </a:bodyPr>
          <a:lstStyle/>
          <a:p>
            <a:pPr>
              <a:defRPr sz="1100">
                <a:solidFill>
                  <a:srgbClr val="8FB6D3"/>
                </a:solidFill>
                <a:latin typeface="IBM Plex Mono"/>
              </a:defRPr>
            </a:pPr>
            <a:r>
              <a:t>Bloque 1: Presentación (3:00 min) · Finalista #1 México</a:t>
            </a:r>
          </a:p>
        </p:txBody>
      </p:sp>
      <p:sp>
        <p:nvSpPr>
          <p:cNvPr id="11" name="TextBox 10"/>
          <p:cNvSpPr txBox="1"/>
          <p:nvPr/>
        </p:nvSpPr>
        <p:spPr>
          <a:xfrm>
            <a:off x="8686800" y="6309360"/>
            <a:ext cx="2773375" cy="320040"/>
          </a:xfrm>
          <a:prstGeom prst="rect">
            <a:avLst/>
          </a:prstGeom>
          <a:noFill/>
        </p:spPr>
        <p:txBody>
          <a:bodyPr wrap="square" lIns="0" tIns="0" rIns="0" bIns="0">
            <a:spAutoFit/>
          </a:bodyPr>
          <a:lstStyle/>
          <a:p>
            <a:pPr algn="r">
              <a:defRPr sz="1100" b="1">
                <a:solidFill>
                  <a:srgbClr val="72E0ED"/>
                </a:solidFill>
                <a:latin typeface="IBM Plex Mono"/>
              </a:defRPr>
            </a:pPr>
            <a:r>
              <a:t>0:00 - 0:15 (15 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38"/>
          </a:solidFill>
          <a:ln>
            <a:solidFill>
              <a:srgbClr val="07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lIns="0" tIns="0" rIns="0" bIns="0">
            <a:spAutoFit/>
          </a:bodyPr>
          <a:lstStyle/>
          <a:p>
            <a:pPr>
              <a:defRPr sz="1100" b="1">
                <a:solidFill>
                  <a:srgbClr val="F97316"/>
                </a:solidFill>
                <a:latin typeface="IBM Plex Mono"/>
              </a:defRPr>
            </a:pPr>
            <a:r>
              <a:t>EL PROBLEMA REAL · CASO + DATO + FUENTE = CREIBILIDAD</a:t>
            </a:r>
          </a:p>
        </p:txBody>
      </p:sp>
      <p:sp>
        <p:nvSpPr>
          <p:cNvPr id="4" name="TextBox 3"/>
          <p:cNvSpPr txBox="1"/>
          <p:nvPr/>
        </p:nvSpPr>
        <p:spPr>
          <a:xfrm>
            <a:off x="731520" y="777240"/>
            <a:ext cx="10698480" cy="822960"/>
          </a:xfrm>
          <a:prstGeom prst="rect">
            <a:avLst/>
          </a:prstGeom>
          <a:noFill/>
        </p:spPr>
        <p:txBody>
          <a:bodyPr wrap="square" lIns="0" tIns="0" rIns="0" bIns="0">
            <a:spAutoFit/>
          </a:bodyPr>
          <a:lstStyle/>
          <a:p>
            <a:pPr>
              <a:defRPr sz="2700" b="1">
                <a:solidFill>
                  <a:srgbClr val="F0F7FB"/>
                </a:solidFill>
                <a:latin typeface="Space Grotesk"/>
              </a:defRPr>
            </a:pPr>
            <a:r>
              <a:rPr b="1">
                <a:solidFill>
                  <a:srgbClr val="72E0ED"/>
                </a:solidFill>
              </a:rPr>
              <a:t>MATEO</a:t>
            </a:r>
            <a:r>
              <a:rPr b="1">
                <a:solidFill>
                  <a:srgbClr val="F0F7FB"/>
                </a:solidFill>
              </a:rPr>
              <a:t> Y EL ROBO DE SU OBRA: CONSTRUIDO NO ES DEMOSTRADO</a:t>
            </a:r>
          </a:p>
        </p:txBody>
      </p:sp>
      <p:sp>
        <p:nvSpPr>
          <p:cNvPr id="5" name="Rectangle 4"/>
          <p:cNvSpPr/>
          <p:nvPr/>
        </p:nvSpPr>
        <p:spPr>
          <a:xfrm>
            <a:off x="731520" y="1783080"/>
            <a:ext cx="5486400" cy="4160520"/>
          </a:xfrm>
          <a:prstGeom prst="rect">
            <a:avLst/>
          </a:prstGeom>
          <a:solidFill>
            <a:srgbClr val="0D2744"/>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937760" cy="3657600"/>
          </a:xfrm>
          <a:prstGeom prst="rect">
            <a:avLst/>
          </a:prstGeom>
          <a:noFill/>
        </p:spPr>
        <p:txBody>
          <a:bodyPr wrap="square">
            <a:spAutoFit/>
          </a:bodyPr>
          <a:lstStyle/>
          <a:p>
            <a:pPr>
              <a:defRPr sz="1100" b="1">
                <a:solidFill>
                  <a:srgbClr val="F97316"/>
                </a:solidFill>
                <a:latin typeface="IBM Plex Mono"/>
              </a:defRPr>
            </a:pPr>
            <a:r>
              <a:t>EL CASO CONCRETO</a:t>
            </a:r>
          </a:p>
          <a:p>
            <a:pPr>
              <a:spcBef>
                <a:spcPts val="600"/>
              </a:spcBef>
              <a:defRPr sz="1800" b="1">
                <a:solidFill>
                  <a:srgbClr val="F0F7FB"/>
                </a:solidFill>
                <a:latin typeface="Space Grotesk"/>
              </a:defRPr>
            </a:pPr>
            <a:r>
              <a:t>Mateo, ilustrador independiente en CDMX / Medellín</a:t>
            </a:r>
          </a:p>
          <a:p>
            <a:pPr>
              <a:spcBef>
                <a:spcPts val="1000"/>
              </a:spcBef>
              <a:defRPr sz="1300">
                <a:solidFill>
                  <a:srgbClr val="8FB6D3"/>
                </a:solidFill>
                <a:latin typeface="IBM Plex Mono"/>
              </a:defRPr>
            </a:pPr>
            <a:r>
              <a:t>Mateo invirtió semanas creando una serie de personajes para una agencia comercial. Entregó bocetos por correo y el cliente canceló el encargo aduciendo 'recorte de presupuesto'.</a:t>
            </a:r>
          </a:p>
          <a:p>
            <a:pPr>
              <a:spcBef>
                <a:spcPts val="1000"/>
              </a:spcBef>
              <a:defRPr sz="1300">
                <a:solidFill>
                  <a:srgbClr val="8FB6D3"/>
                </a:solidFill>
                <a:latin typeface="IBM Plex Mono"/>
              </a:defRPr>
            </a:pPr>
            <a:r>
              <a:t>Al mes siguiente vio sus personajes en vallas y campañas comerciales sin su firma y sin liquidarle un solo peso de regalías. Sus únicas pruebas eran archivos locales de Photoshop y correos dispersos.</a:t>
            </a:r>
          </a:p>
        </p:txBody>
      </p:sp>
      <p:sp>
        <p:nvSpPr>
          <p:cNvPr id="7" name="Rectangle 6"/>
          <p:cNvSpPr/>
          <p:nvPr/>
        </p:nvSpPr>
        <p:spPr>
          <a:xfrm>
            <a:off x="6492240" y="1783080"/>
            <a:ext cx="4937760" cy="4160520"/>
          </a:xfrm>
          <a:prstGeom prst="rect">
            <a:avLst/>
          </a:prstGeom>
          <a:solidFill>
            <a:srgbClr val="113459"/>
          </a:solidFill>
          <a:ln w="25400">
            <a:solidFill>
              <a:srgbClr val="0FA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2011680"/>
            <a:ext cx="4389120" cy="3657600"/>
          </a:xfrm>
          <a:prstGeom prst="rect">
            <a:avLst/>
          </a:prstGeom>
          <a:noFill/>
        </p:spPr>
        <p:txBody>
          <a:bodyPr wrap="square">
            <a:spAutoFit/>
          </a:bodyPr>
          <a:lstStyle/>
          <a:p>
            <a:pPr>
              <a:defRPr sz="1100" b="1">
                <a:solidFill>
                  <a:srgbClr val="0FAEC8"/>
                </a:solidFill>
                <a:latin typeface="IBM Plex Mono"/>
              </a:defRPr>
            </a:pPr>
            <a:r>
              <a:t>EL DATO QUE LE DA PESO</a:t>
            </a:r>
          </a:p>
          <a:p>
            <a:pPr>
              <a:defRPr sz="6400" b="1">
                <a:solidFill>
                  <a:srgbClr val="72E0ED"/>
                </a:solidFill>
                <a:latin typeface="Space Grotesk"/>
              </a:defRPr>
            </a:pPr>
            <a:r>
              <a:t>71%</a:t>
            </a:r>
          </a:p>
          <a:p>
            <a:pPr>
              <a:defRPr sz="1600" b="1">
                <a:solidFill>
                  <a:srgbClr val="F0F7FB"/>
                </a:solidFill>
                <a:latin typeface="Space Grotesk"/>
              </a:defRPr>
            </a:pPr>
            <a:r>
              <a:t>de creadores independientes sufren impago o plagio</a:t>
            </a:r>
          </a:p>
          <a:p>
            <a:pPr>
              <a:spcBef>
                <a:spcPts val="800"/>
              </a:spcBef>
              <a:defRPr sz="1200">
                <a:solidFill>
                  <a:srgbClr val="8FB6D3"/>
                </a:solidFill>
                <a:latin typeface="IBM Plex Mono"/>
              </a:defRPr>
            </a:pPr>
            <a:r>
              <a:t>Fuente: Freelancers Union &amp; WIPO Creative Survey.</a:t>
            </a:r>
            <a:br/>
            <a:br/>
            <a:r>
              <a:t>¿Por qué no reclaman? Porque hoy sus únicas pruebas son fechas locales de archivos o cadenas de correo. Cualquier peritaje judicial cuesta más dinero que el encargo mismo.</a:t>
            </a:r>
          </a:p>
        </p:txBody>
      </p:sp>
      <p:sp>
        <p:nvSpPr>
          <p:cNvPr id="9" name="Rectangle 8"/>
          <p:cNvSpPr/>
          <p:nvPr/>
        </p:nvSpPr>
        <p:spPr>
          <a:xfrm>
            <a:off x="731520" y="6236208"/>
            <a:ext cx="10728655" cy="18288"/>
          </a:xfrm>
          <a:prstGeom prst="rect">
            <a:avLst/>
          </a:prstGeom>
          <a:solidFill>
            <a:srgbClr val="1A4975"/>
          </a:solidFill>
          <a:ln>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09360"/>
            <a:ext cx="7772400" cy="320040"/>
          </a:xfrm>
          <a:prstGeom prst="rect">
            <a:avLst/>
          </a:prstGeom>
          <a:noFill/>
        </p:spPr>
        <p:txBody>
          <a:bodyPr wrap="square" lIns="0" tIns="0" rIns="0" bIns="0">
            <a:spAutoFit/>
          </a:bodyPr>
          <a:lstStyle/>
          <a:p>
            <a:pPr>
              <a:defRPr sz="1100">
                <a:solidFill>
                  <a:srgbClr val="8FB6D3"/>
                </a:solidFill>
                <a:latin typeface="IBM Plex Mono"/>
              </a:defRPr>
            </a:pPr>
            <a:r>
              <a:t>★ Regla del Taller: Un caso concreto antes que una abstracción vacía.</a:t>
            </a:r>
          </a:p>
        </p:txBody>
      </p:sp>
      <p:sp>
        <p:nvSpPr>
          <p:cNvPr id="11" name="TextBox 10"/>
          <p:cNvSpPr txBox="1"/>
          <p:nvPr/>
        </p:nvSpPr>
        <p:spPr>
          <a:xfrm>
            <a:off x="8686800" y="6309360"/>
            <a:ext cx="2773375" cy="320040"/>
          </a:xfrm>
          <a:prstGeom prst="rect">
            <a:avLst/>
          </a:prstGeom>
          <a:noFill/>
        </p:spPr>
        <p:txBody>
          <a:bodyPr wrap="square" lIns="0" tIns="0" rIns="0" bIns="0">
            <a:spAutoFit/>
          </a:bodyPr>
          <a:lstStyle/>
          <a:p>
            <a:pPr algn="r">
              <a:defRPr sz="1100" b="1">
                <a:solidFill>
                  <a:srgbClr val="72E0ED"/>
                </a:solidFill>
                <a:latin typeface="IBM Plex Mono"/>
              </a:defRPr>
            </a:pPr>
            <a:r>
              <a:t>0:15 - 0:50 (35 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38"/>
          </a:solidFill>
          <a:ln>
            <a:solidFill>
              <a:srgbClr val="07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lIns="0" tIns="0" rIns="0" bIns="0">
            <a:spAutoFit/>
          </a:bodyPr>
          <a:lstStyle/>
          <a:p>
            <a:pPr>
              <a:defRPr sz="1100" b="1">
                <a:solidFill>
                  <a:srgbClr val="72E0ED"/>
                </a:solidFill>
                <a:latin typeface="IBM Plex Mono"/>
              </a:defRPr>
            </a:pPr>
            <a:r>
              <a:t>USUARIO Y CONTEXTO · CADA LADO NECESITA AL OTRO</a:t>
            </a:r>
          </a:p>
        </p:txBody>
      </p:sp>
      <p:sp>
        <p:nvSpPr>
          <p:cNvPr id="4" name="TextBox 3"/>
          <p:cNvSpPr txBox="1"/>
          <p:nvPr/>
        </p:nvSpPr>
        <p:spPr>
          <a:xfrm>
            <a:off x="731520" y="777240"/>
            <a:ext cx="10698480" cy="822960"/>
          </a:xfrm>
          <a:prstGeom prst="rect">
            <a:avLst/>
          </a:prstGeom>
          <a:noFill/>
        </p:spPr>
        <p:txBody>
          <a:bodyPr wrap="square" lIns="0" tIns="0" rIns="0" bIns="0">
            <a:spAutoFit/>
          </a:bodyPr>
          <a:lstStyle/>
          <a:p>
            <a:pPr>
              <a:defRPr sz="2700" b="1">
                <a:solidFill>
                  <a:srgbClr val="F0F7FB"/>
                </a:solidFill>
                <a:latin typeface="Space Grotesk"/>
              </a:defRPr>
            </a:pPr>
            <a:r>
              <a:t>DOS ACTORES, </a:t>
            </a:r>
            <a:r>
              <a:rPr b="1">
                <a:solidFill>
                  <a:srgbClr val="72E0ED"/>
                </a:solidFill>
              </a:rPr>
              <a:t>UNA SOLA HISTORIA</a:t>
            </a:r>
          </a:p>
        </p:txBody>
      </p:sp>
      <p:sp>
        <p:nvSpPr>
          <p:cNvPr id="5" name="Rectangle 4"/>
          <p:cNvSpPr/>
          <p:nvPr/>
        </p:nvSpPr>
        <p:spPr>
          <a:xfrm>
            <a:off x="731520" y="1783080"/>
            <a:ext cx="5212080" cy="4160520"/>
          </a:xfrm>
          <a:prstGeom prst="rect">
            <a:avLst/>
          </a:prstGeom>
          <a:solidFill>
            <a:srgbClr val="0D2744"/>
          </a:solidFill>
          <a:ln w="25400">
            <a:solidFill>
              <a:srgbClr val="0FA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663440" cy="3657600"/>
          </a:xfrm>
          <a:prstGeom prst="rect">
            <a:avLst/>
          </a:prstGeom>
          <a:noFill/>
        </p:spPr>
        <p:txBody>
          <a:bodyPr wrap="square">
            <a:spAutoFit/>
          </a:bodyPr>
          <a:lstStyle/>
          <a:p>
            <a:pPr>
              <a:defRPr sz="1100" b="1">
                <a:solidFill>
                  <a:srgbClr val="0FAEC8"/>
                </a:solidFill>
                <a:latin typeface="IBM Plex Mono"/>
              </a:defRPr>
            </a:pPr>
            <a:r>
              <a:t>ACTOR 1: MATEO (REGISTRA)</a:t>
            </a:r>
          </a:p>
          <a:p>
            <a:pPr>
              <a:spcBef>
                <a:spcPts val="600"/>
              </a:spcBef>
              <a:defRPr sz="2000" b="1">
                <a:solidFill>
                  <a:srgbClr val="F0F7FB"/>
                </a:solidFill>
                <a:latin typeface="Space Grotesk"/>
              </a:defRPr>
            </a:pPr>
            <a:r>
              <a:t>El Creador Independiente</a:t>
            </a:r>
          </a:p>
          <a:p>
            <a:pPr>
              <a:spcBef>
                <a:spcPts val="1200"/>
              </a:spcBef>
              <a:defRPr sz="1300">
                <a:solidFill>
                  <a:srgbClr val="8FB6D3"/>
                </a:solidFill>
                <a:latin typeface="IBM Plex Mono"/>
              </a:defRPr>
            </a:pPr>
            <a:r>
              <a:t>• Quién es: Ilustrador, diseñador o artista digital que produce obras de alto valor.</a:t>
            </a:r>
            <a:br/>
            <a:br/>
            <a:r>
              <a:t>• Qué hace hoy: Guarda archivos en Google Drive o se envía auto-correos esperando que la fecha sirva de prueba.</a:t>
            </a:r>
            <a:br/>
            <a:br/>
            <a:r>
              <a:t>• Qué le cuesta: Desprotección jurídica, impotencia ante apropiaciones y horas reconstruyendo historiales dispersos.</a:t>
            </a:r>
          </a:p>
        </p:txBody>
      </p:sp>
      <p:sp>
        <p:nvSpPr>
          <p:cNvPr id="7" name="Rectangle 6"/>
          <p:cNvSpPr/>
          <p:nvPr/>
        </p:nvSpPr>
        <p:spPr>
          <a:xfrm>
            <a:off x="6217920" y="1783080"/>
            <a:ext cx="5212080" cy="4160520"/>
          </a:xfrm>
          <a:prstGeom prst="rect">
            <a:avLst/>
          </a:prstGeom>
          <a:solidFill>
            <a:srgbClr val="113459"/>
          </a:solidFill>
          <a:ln w="25400">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663440" cy="3657600"/>
          </a:xfrm>
          <a:prstGeom prst="rect">
            <a:avLst/>
          </a:prstGeom>
          <a:noFill/>
        </p:spPr>
        <p:txBody>
          <a:bodyPr wrap="square">
            <a:spAutoFit/>
          </a:bodyPr>
          <a:lstStyle/>
          <a:p>
            <a:pPr>
              <a:defRPr sz="1100" b="1">
                <a:solidFill>
                  <a:srgbClr val="72E0ED"/>
                </a:solidFill>
                <a:latin typeface="IBM Plex Mono"/>
              </a:defRPr>
            </a:pPr>
            <a:r>
              <a:t>ACTOR 2: LA EDITORIAL (CONSULTA)</a:t>
            </a:r>
          </a:p>
          <a:p>
            <a:pPr>
              <a:spcBef>
                <a:spcPts val="600"/>
              </a:spcBef>
              <a:defRPr sz="2000" b="1">
                <a:solidFill>
                  <a:srgbClr val="F0F7FB"/>
                </a:solidFill>
                <a:latin typeface="Space Grotesk"/>
              </a:defRPr>
            </a:pPr>
            <a:r>
              <a:t>El Comprador / Tercero</a:t>
            </a:r>
          </a:p>
          <a:p>
            <a:pPr>
              <a:spcBef>
                <a:spcPts val="1200"/>
              </a:spcBef>
              <a:defRPr sz="1300">
                <a:solidFill>
                  <a:srgbClr val="8FB6D3"/>
                </a:solidFill>
                <a:latin typeface="IBM Plex Mono"/>
              </a:defRPr>
            </a:pPr>
            <a:r>
              <a:t>• Quién es: Agencia de publicidad, editorial, productora o coleccionista.</a:t>
            </a:r>
            <a:br/>
            <a:br/>
            <a:r>
              <a:t>• Qué hace hoy: Firma contratos a ciegas rezando para que no aparezca el autor real reclamando derechos no transferidos.</a:t>
            </a:r>
            <a:br/>
            <a:br/>
            <a:r>
              <a:t>• Qué necesita: Comprobar en 5 segundos si Mateo tiene la titularidad legítima para licenciar su obra sin trámites burocráticos.</a:t>
            </a:r>
          </a:p>
        </p:txBody>
      </p:sp>
      <p:sp>
        <p:nvSpPr>
          <p:cNvPr id="9" name="Rectangle 8"/>
          <p:cNvSpPr/>
          <p:nvPr/>
        </p:nvSpPr>
        <p:spPr>
          <a:xfrm>
            <a:off x="731520" y="6236208"/>
            <a:ext cx="10728655" cy="18288"/>
          </a:xfrm>
          <a:prstGeom prst="rect">
            <a:avLst/>
          </a:prstGeom>
          <a:solidFill>
            <a:srgbClr val="1A4975"/>
          </a:solidFill>
          <a:ln>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09360"/>
            <a:ext cx="7772400" cy="320040"/>
          </a:xfrm>
          <a:prstGeom prst="rect">
            <a:avLst/>
          </a:prstGeom>
          <a:noFill/>
        </p:spPr>
        <p:txBody>
          <a:bodyPr wrap="square" lIns="0" tIns="0" rIns="0" bIns="0">
            <a:spAutoFit/>
          </a:bodyPr>
          <a:lstStyle/>
          <a:p>
            <a:pPr>
              <a:defRPr sz="1100">
                <a:solidFill>
                  <a:srgbClr val="8FB6D3"/>
                </a:solidFill>
                <a:latin typeface="IBM Plex Mono"/>
              </a:defRPr>
            </a:pPr>
            <a:r>
              <a:t>La historia se cuenta desde Mateo; la editorial aparece cuando se necesita.</a:t>
            </a:r>
          </a:p>
        </p:txBody>
      </p:sp>
      <p:sp>
        <p:nvSpPr>
          <p:cNvPr id="11" name="TextBox 10"/>
          <p:cNvSpPr txBox="1"/>
          <p:nvPr/>
        </p:nvSpPr>
        <p:spPr>
          <a:xfrm>
            <a:off x="8686800" y="6309360"/>
            <a:ext cx="2773375" cy="320040"/>
          </a:xfrm>
          <a:prstGeom prst="rect">
            <a:avLst/>
          </a:prstGeom>
          <a:noFill/>
        </p:spPr>
        <p:txBody>
          <a:bodyPr wrap="square" lIns="0" tIns="0" rIns="0" bIns="0">
            <a:spAutoFit/>
          </a:bodyPr>
          <a:lstStyle/>
          <a:p>
            <a:pPr algn="r">
              <a:defRPr sz="1100" b="1">
                <a:solidFill>
                  <a:srgbClr val="72E0ED"/>
                </a:solidFill>
                <a:latin typeface="IBM Plex Mono"/>
              </a:defRPr>
            </a:pPr>
            <a:r>
              <a:t>0:50 - 1:20 (30 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38"/>
          </a:solidFill>
          <a:ln>
            <a:solidFill>
              <a:srgbClr val="07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lIns="0" tIns="0" rIns="0" bIns="0">
            <a:spAutoFit/>
          </a:bodyPr>
          <a:lstStyle/>
          <a:p>
            <a:pPr>
              <a:defRPr sz="1100" b="1">
                <a:solidFill>
                  <a:srgbClr val="38D39F"/>
                </a:solidFill>
                <a:latin typeface="IBM Plex Mono"/>
              </a:defRPr>
            </a:pPr>
            <a:r>
              <a:t>SOLUCIÓN · DEFINICIÓN EXACTA DE VALOR</a:t>
            </a:r>
          </a:p>
        </p:txBody>
      </p:sp>
      <p:sp>
        <p:nvSpPr>
          <p:cNvPr id="4" name="TextBox 3"/>
          <p:cNvSpPr txBox="1"/>
          <p:nvPr/>
        </p:nvSpPr>
        <p:spPr>
          <a:xfrm>
            <a:off x="731520" y="777240"/>
            <a:ext cx="10698480" cy="822960"/>
          </a:xfrm>
          <a:prstGeom prst="rect">
            <a:avLst/>
          </a:prstGeom>
          <a:noFill/>
        </p:spPr>
        <p:txBody>
          <a:bodyPr wrap="square" lIns="0" tIns="0" rIns="0" bIns="0">
            <a:spAutoFit/>
          </a:bodyPr>
          <a:lstStyle/>
          <a:p>
            <a:pPr>
              <a:defRPr sz="2700" b="1">
                <a:solidFill>
                  <a:srgbClr val="F0F7FB"/>
                </a:solidFill>
                <a:latin typeface="Space Grotesk"/>
              </a:defRPr>
            </a:pPr>
            <a:r>
              <a:t>LA PROPUESTA DE VALOR: </a:t>
            </a:r>
            <a:r>
              <a:rPr b="1">
                <a:solidFill>
                  <a:srgbClr val="72E0ED"/>
                </a:solidFill>
              </a:rPr>
              <a:t>¿POR QUÉ BLOCKCHAIN?</a:t>
            </a:r>
          </a:p>
        </p:txBody>
      </p:sp>
      <p:sp>
        <p:nvSpPr>
          <p:cNvPr id="5" name="Rectangle 4"/>
          <p:cNvSpPr/>
          <p:nvPr/>
        </p:nvSpPr>
        <p:spPr>
          <a:xfrm>
            <a:off x="731520" y="1783080"/>
            <a:ext cx="10728655" cy="2286000"/>
          </a:xfrm>
          <a:prstGeom prst="rect">
            <a:avLst/>
          </a:prstGeom>
          <a:solidFill>
            <a:srgbClr val="0D2744"/>
          </a:solidFill>
          <a:ln w="25400">
            <a:solidFill>
              <a:srgbClr val="0FA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65960"/>
            <a:ext cx="10180015" cy="1920240"/>
          </a:xfrm>
          <a:prstGeom prst="rect">
            <a:avLst/>
          </a:prstGeom>
          <a:noFill/>
        </p:spPr>
        <p:txBody>
          <a:bodyPr wrap="square">
            <a:spAutoFit/>
          </a:bodyPr>
          <a:lstStyle/>
          <a:p>
            <a:r>
              <a:rPr b="1" sz="1350">
                <a:solidFill>
                  <a:srgbClr val="72E0ED"/>
                </a:solidFill>
                <a:latin typeface="IBM Plex Mono"/>
              </a:rPr>
              <a:t>PARA:</a:t>
            </a:r>
            <a:r>
              <a:rPr sz="1350">
                <a:solidFill>
                  <a:srgbClr val="F0F7FB"/>
                </a:solidFill>
                <a:latin typeface="IBM Plex Mono"/>
              </a:rPr>
              <a:t> creadores digitales e ilustradores independientes,</a:t>
            </a:r>
          </a:p>
          <a:p>
            <a:pPr>
              <a:spcBef>
                <a:spcPts val="500"/>
              </a:spcBef>
            </a:pPr>
            <a:r>
              <a:rPr b="1" sz="1350">
                <a:solidFill>
                  <a:srgbClr val="72E0ED"/>
                </a:solidFill>
                <a:latin typeface="IBM Plex Mono"/>
              </a:rPr>
              <a:t>QUE:</a:t>
            </a:r>
            <a:r>
              <a:rPr sz="1350">
                <a:solidFill>
                  <a:srgbClr val="F0F7FB"/>
                </a:solidFill>
                <a:latin typeface="IBM Plex Mono"/>
              </a:rPr>
              <a:t> no pueden comprobar la precedencia ni licencias de sus obras,</a:t>
            </a:r>
          </a:p>
          <a:p>
            <a:pPr>
              <a:spcBef>
                <a:spcPts val="500"/>
              </a:spcBef>
            </a:pPr>
            <a:r>
              <a:rPr b="1" sz="1350">
                <a:solidFill>
                  <a:srgbClr val="72E0ED"/>
                </a:solidFill>
                <a:latin typeface="IBM Plex Mono"/>
              </a:rPr>
              <a:t>AUTHORY PERMITE:</a:t>
            </a:r>
            <a:r>
              <a:rPr sz="1350">
                <a:solidFill>
                  <a:srgbClr val="F0F7FB"/>
                </a:solidFill>
                <a:latin typeface="IBM Plex Mono"/>
              </a:rPr>
              <a:t> generar un pasaporte digital y un sello temporal inmutable en Stellar manteniendo el archivo privado,</a:t>
            </a:r>
          </a:p>
          <a:p>
            <a:pPr>
              <a:spcBef>
                <a:spcPts val="500"/>
              </a:spcBef>
            </a:pPr>
            <a:r>
              <a:rPr b="1" sz="1350">
                <a:solidFill>
                  <a:srgbClr val="72E0ED"/>
                </a:solidFill>
                <a:latin typeface="IBM Plex Mono"/>
              </a:rPr>
              <a:t>A DIFERENCIA DE:</a:t>
            </a:r>
            <a:r>
              <a:rPr sz="1350">
                <a:solidFill>
                  <a:srgbClr val="F0F7FB"/>
                </a:solidFill>
                <a:latin typeface="IBM Plex Mono"/>
              </a:rPr>
              <a:t> archivos y correos que cualquiera puede manipular o plataformas cerradas.</a:t>
            </a:r>
          </a:p>
        </p:txBody>
      </p:sp>
      <p:sp>
        <p:nvSpPr>
          <p:cNvPr id="7" name="Rectangle 6"/>
          <p:cNvSpPr/>
          <p:nvPr/>
        </p:nvSpPr>
        <p:spPr>
          <a:xfrm>
            <a:off x="731520" y="4343400"/>
            <a:ext cx="10728655" cy="1600200"/>
          </a:xfrm>
          <a:prstGeom prst="rect">
            <a:avLst/>
          </a:prstGeom>
          <a:solidFill>
            <a:srgbClr val="113459"/>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526280"/>
            <a:ext cx="10180015" cy="1234440"/>
          </a:xfrm>
          <a:prstGeom prst="rect">
            <a:avLst/>
          </a:prstGeom>
          <a:noFill/>
        </p:spPr>
        <p:txBody>
          <a:bodyPr wrap="square">
            <a:spAutoFit/>
          </a:bodyPr>
          <a:lstStyle/>
          <a:p>
            <a:pPr>
              <a:defRPr sz="1100" b="1">
                <a:solidFill>
                  <a:srgbClr val="F97316"/>
                </a:solidFill>
                <a:latin typeface="IBM Plex Mono"/>
              </a:defRPr>
            </a:pPr>
            <a:r>
              <a:t>¿POR QUÉ BLOCKCHAIN EN UNA FRASE? (LA AUDIENCIA LO PREGUNTARÁ)</a:t>
            </a:r>
          </a:p>
          <a:p>
            <a:pPr>
              <a:spcBef>
                <a:spcPts val="600"/>
              </a:spcBef>
              <a:defRPr sz="1700" b="1">
                <a:solidFill>
                  <a:srgbClr val="F0F7FB"/>
                </a:solidFill>
                <a:latin typeface="Space Grotesk"/>
              </a:defRPr>
            </a:pPr>
            <a:r>
              <a:t>«Porque la huella queda en un registro público descentralizado que ninguna de las partes puede modificar después y que cualquiera puede auditar sin pedir permiso.»</a:t>
            </a:r>
          </a:p>
        </p:txBody>
      </p:sp>
      <p:sp>
        <p:nvSpPr>
          <p:cNvPr id="9" name="Rectangle 8"/>
          <p:cNvSpPr/>
          <p:nvPr/>
        </p:nvSpPr>
        <p:spPr>
          <a:xfrm>
            <a:off x="731520" y="6236208"/>
            <a:ext cx="10728655" cy="18288"/>
          </a:xfrm>
          <a:prstGeom prst="rect">
            <a:avLst/>
          </a:prstGeom>
          <a:solidFill>
            <a:srgbClr val="1A4975"/>
          </a:solidFill>
          <a:ln>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09360"/>
            <a:ext cx="7772400" cy="320040"/>
          </a:xfrm>
          <a:prstGeom prst="rect">
            <a:avLst/>
          </a:prstGeom>
          <a:noFill/>
        </p:spPr>
        <p:txBody>
          <a:bodyPr wrap="square" lIns="0" tIns="0" rIns="0" bIns="0">
            <a:spAutoFit/>
          </a:bodyPr>
          <a:lstStyle/>
          <a:p>
            <a:pPr>
              <a:defRPr sz="1100">
                <a:solidFill>
                  <a:srgbClr val="8FB6D3"/>
                </a:solidFill>
                <a:latin typeface="IBM Plex Mono"/>
              </a:defRPr>
            </a:pPr>
            <a:r>
              <a:t>Frase que une: «¿Cómo comprueba cualquier persona que esto no es una base de datos nuestra?...»</a:t>
            </a:r>
          </a:p>
        </p:txBody>
      </p:sp>
      <p:sp>
        <p:nvSpPr>
          <p:cNvPr id="11" name="TextBox 10"/>
          <p:cNvSpPr txBox="1"/>
          <p:nvPr/>
        </p:nvSpPr>
        <p:spPr>
          <a:xfrm>
            <a:off x="8686800" y="6309360"/>
            <a:ext cx="2773375" cy="320040"/>
          </a:xfrm>
          <a:prstGeom prst="rect">
            <a:avLst/>
          </a:prstGeom>
          <a:noFill/>
        </p:spPr>
        <p:txBody>
          <a:bodyPr wrap="square" lIns="0" tIns="0" rIns="0" bIns="0">
            <a:spAutoFit/>
          </a:bodyPr>
          <a:lstStyle/>
          <a:p>
            <a:pPr algn="r">
              <a:defRPr sz="1100" b="1">
                <a:solidFill>
                  <a:srgbClr val="72E0ED"/>
                </a:solidFill>
                <a:latin typeface="IBM Plex Mono"/>
              </a:defRPr>
            </a:pPr>
            <a:r>
              <a:t>1:20 - 1:55 (35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38"/>
          </a:solidFill>
          <a:ln>
            <a:solidFill>
              <a:srgbClr val="07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lIns="0" tIns="0" rIns="0" bIns="0">
            <a:spAutoFit/>
          </a:bodyPr>
          <a:lstStyle/>
          <a:p>
            <a:pPr>
              <a:defRPr sz="1100" b="1">
                <a:solidFill>
                  <a:srgbClr val="38D39F"/>
                </a:solidFill>
                <a:latin typeface="IBM Plex Mono"/>
              </a:defRPr>
            </a:pPr>
            <a:r>
              <a:t>EVIDENCIA TÉCNICA · AUDITABLE POR CUALQUIER PERSONA</a:t>
            </a:r>
          </a:p>
        </p:txBody>
      </p:sp>
      <p:sp>
        <p:nvSpPr>
          <p:cNvPr id="4" name="TextBox 3"/>
          <p:cNvSpPr txBox="1"/>
          <p:nvPr/>
        </p:nvSpPr>
        <p:spPr>
          <a:xfrm>
            <a:off x="731520" y="777240"/>
            <a:ext cx="10698480" cy="822960"/>
          </a:xfrm>
          <a:prstGeom prst="rect">
            <a:avLst/>
          </a:prstGeom>
          <a:noFill/>
        </p:spPr>
        <p:txBody>
          <a:bodyPr wrap="square" lIns="0" tIns="0" rIns="0" bIns="0">
            <a:spAutoFit/>
          </a:bodyPr>
          <a:lstStyle/>
          <a:p>
            <a:pPr>
              <a:defRPr sz="2700" b="1">
                <a:solidFill>
                  <a:srgbClr val="F0F7FB"/>
                </a:solidFill>
                <a:latin typeface="Space Grotesk"/>
              </a:defRPr>
            </a:pPr>
            <a:r>
              <a:t>EVIDENCIA </a:t>
            </a:r>
            <a:r>
              <a:rPr b="1">
                <a:solidFill>
                  <a:srgbClr val="72E0ED"/>
                </a:solidFill>
              </a:rPr>
              <a:t>QUE SÍ VA</a:t>
            </a:r>
            <a:r>
              <a:rPr b="1">
                <a:solidFill>
                  <a:srgbClr val="F0F7FB"/>
                </a:solidFill>
              </a:rPr>
              <a:t> EN STELLAR</a:t>
            </a:r>
          </a:p>
        </p:txBody>
      </p:sp>
      <p:sp>
        <p:nvSpPr>
          <p:cNvPr id="5" name="Rectangle 4"/>
          <p:cNvSpPr/>
          <p:nvPr/>
        </p:nvSpPr>
        <p:spPr>
          <a:xfrm>
            <a:off x="731520" y="1783080"/>
            <a:ext cx="5486400" cy="4160520"/>
          </a:xfrm>
          <a:prstGeom prst="rect">
            <a:avLst/>
          </a:prstGeom>
          <a:solidFill>
            <a:srgbClr val="0D2744"/>
          </a:solidFill>
          <a:ln w="25400">
            <a:solidFill>
              <a:srgbClr val="0FA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937760" cy="3657600"/>
          </a:xfrm>
          <a:prstGeom prst="rect">
            <a:avLst/>
          </a:prstGeom>
          <a:noFill/>
        </p:spPr>
        <p:txBody>
          <a:bodyPr wrap="square">
            <a:spAutoFit/>
          </a:bodyPr>
          <a:lstStyle/>
          <a:p>
            <a:pPr>
              <a:defRPr sz="1100" b="1">
                <a:solidFill>
                  <a:srgbClr val="0FAEC8"/>
                </a:solidFill>
                <a:latin typeface="IBM Plex Mono"/>
              </a:defRPr>
            </a:pPr>
            <a:r>
              <a:t>SMART CONTRACT EN STELLAR TESTNET</a:t>
            </a:r>
          </a:p>
          <a:p>
            <a:pPr>
              <a:spcBef>
                <a:spcPts val="800"/>
              </a:spcBef>
              <a:defRPr sz="1100" b="1">
                <a:solidFill>
                  <a:srgbClr val="72E0ED"/>
                </a:solidFill>
                <a:latin typeface="IBM Plex Mono"/>
              </a:defRPr>
            </a:pPr>
            <a:r>
              <a:t>CAOAFGPATXWJ6KKGXFYHY42Q4N75NOWSR3NH3K2DT7QR3YSMDGT5P2HO</a:t>
            </a:r>
          </a:p>
          <a:p>
            <a:pPr>
              <a:spcBef>
                <a:spcPts val="600"/>
              </a:spcBef>
            </a:pPr>
            <a:r>
              <a:rPr b="1" sz="1200">
                <a:solidFill>
                  <a:srgbClr val="F0F7FB"/>
                </a:solidFill>
                <a:latin typeface="IBM Plex Mono"/>
              </a:rPr>
              <a:t>• Wasm Bytecode Hash:</a:t>
            </a:r>
            <a:r>
              <a:rPr sz="1100">
                <a:solidFill>
                  <a:srgbClr val="8FB6D3"/>
                </a:solidFill>
                <a:latin typeface="IBM Plex Mono"/>
              </a:rPr>
              <a:t> ba7d1753ecf002984aee4a87c80b64af...</a:t>
            </a:r>
          </a:p>
          <a:p>
            <a:pPr>
              <a:spcBef>
                <a:spcPts val="600"/>
              </a:spcBef>
            </a:pPr>
            <a:r>
              <a:rPr b="1" sz="1200">
                <a:solidFill>
                  <a:srgbClr val="F0F7FB"/>
                </a:solidFill>
                <a:latin typeface="IBM Plex Mono"/>
              </a:rPr>
              <a:t>• Tx Registro en vivo:</a:t>
            </a:r>
            <a:r>
              <a:rPr sz="1100">
                <a:solidFill>
                  <a:srgbClr val="8FB6D3"/>
                </a:solidFill>
                <a:latin typeface="IBM Plex Mono"/>
              </a:rPr>
              <a:t> 725e126cc7998b795f32... (Evento nativo work_reg)</a:t>
            </a:r>
          </a:p>
          <a:p>
            <a:pPr>
              <a:spcBef>
                <a:spcPts val="600"/>
              </a:spcBef>
            </a:pPr>
            <a:r>
              <a:rPr b="1" sz="1200">
                <a:solidFill>
                  <a:srgbClr val="F0F7FB"/>
                </a:solidFill>
                <a:latin typeface="IBM Plex Mono"/>
              </a:rPr>
              <a:t>• Tx Licencia de derechos:</a:t>
            </a:r>
            <a:r>
              <a:rPr sz="1100">
                <a:solidFill>
                  <a:srgbClr val="8FB6D3"/>
                </a:solidFill>
                <a:latin typeface="IBM Plex Mono"/>
              </a:rPr>
              <a:t> 30f6f7e9a1df1187d0a6... (Evento nativo right_evt)</a:t>
            </a:r>
          </a:p>
          <a:p>
            <a:pPr>
              <a:spcBef>
                <a:spcPts val="600"/>
              </a:spcBef>
            </a:pPr>
            <a:r>
              <a:rPr b="1" sz="1200">
                <a:solidFill>
                  <a:srgbClr val="F0F7FB"/>
                </a:solidFill>
                <a:latin typeface="IBM Plex Mono"/>
              </a:rPr>
              <a:t>• Explorador Stellar Expert:</a:t>
            </a:r>
            <a:r>
              <a:rPr sz="1100">
                <a:solidFill>
                  <a:srgbClr val="8FB6D3"/>
                </a:solidFill>
                <a:latin typeface="IBM Plex Mono"/>
              </a:rPr>
              <a:t> Consultable públicamente sin permisos</a:t>
            </a:r>
          </a:p>
        </p:txBody>
      </p:sp>
      <p:sp>
        <p:nvSpPr>
          <p:cNvPr id="7" name="Rectangle 6"/>
          <p:cNvSpPr/>
          <p:nvPr/>
        </p:nvSpPr>
        <p:spPr>
          <a:xfrm>
            <a:off x="6492240" y="1783080"/>
            <a:ext cx="4937760" cy="4160520"/>
          </a:xfrm>
          <a:prstGeom prst="rect">
            <a:avLst/>
          </a:prstGeom>
          <a:solidFill>
            <a:srgbClr val="113459"/>
          </a:solidFill>
          <a:ln w="25400">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2011680"/>
            <a:ext cx="4389120" cy="3657600"/>
          </a:xfrm>
          <a:prstGeom prst="rect">
            <a:avLst/>
          </a:prstGeom>
          <a:noFill/>
        </p:spPr>
        <p:txBody>
          <a:bodyPr wrap="square">
            <a:spAutoFit/>
          </a:bodyPr>
          <a:lstStyle/>
          <a:p>
            <a:pPr>
              <a:defRPr sz="1100" b="1">
                <a:solidFill>
                  <a:srgbClr val="72E0ED"/>
                </a:solidFill>
                <a:latin typeface="IBM Plex Mono"/>
              </a:defRPr>
            </a:pPr>
            <a:r>
              <a:t>REPOSITORIO &amp; REPRODUCIBILIDAD</a:t>
            </a:r>
          </a:p>
          <a:p>
            <a:pPr>
              <a:spcBef>
                <a:spcPts val="600"/>
              </a:spcBef>
              <a:defRPr sz="2000" b="1">
                <a:solidFill>
                  <a:srgbClr val="F0F7FB"/>
                </a:solidFill>
                <a:latin typeface="Space Grotesk"/>
              </a:defRPr>
            </a:pPr>
            <a:r>
              <a:t>GitHub: nidaela/Authory</a:t>
            </a:r>
          </a:p>
          <a:p>
            <a:pPr>
              <a:spcBef>
                <a:spcPts val="1000"/>
              </a:spcBef>
              <a:defRPr sz="1200">
                <a:solidFill>
                  <a:srgbClr val="8FB6D3"/>
                </a:solidFill>
                <a:latin typeface="IBM Plex Mono"/>
              </a:defRPr>
            </a:pPr>
            <a:r>
              <a:t>• Stack: Next.js 16 (App Router) + React 19 + Tailwind CSS 4.</a:t>
            </a:r>
            <a:br/>
            <a:br/>
            <a:r>
              <a:t>• Pruebas: 9/9 suites de pruebas unitarias y focales passing.</a:t>
            </a:r>
            <a:br/>
            <a:br/>
            <a:r>
              <a:t>• Base de Datos: Persistencia híbrida en Supabase y archivos off-chain.</a:t>
            </a:r>
            <a:br/>
            <a:br/>
            <a:r>
              <a:t>• Despliegue en Producción: authority-khaki.vercel.app</a:t>
            </a:r>
          </a:p>
        </p:txBody>
      </p:sp>
      <p:sp>
        <p:nvSpPr>
          <p:cNvPr id="9" name="Rectangle 8"/>
          <p:cNvSpPr/>
          <p:nvPr/>
        </p:nvSpPr>
        <p:spPr>
          <a:xfrm>
            <a:off x="731520" y="6236208"/>
            <a:ext cx="10728655" cy="18288"/>
          </a:xfrm>
          <a:prstGeom prst="rect">
            <a:avLst/>
          </a:prstGeom>
          <a:solidFill>
            <a:srgbClr val="1A4975"/>
          </a:solidFill>
          <a:ln>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09360"/>
            <a:ext cx="7772400" cy="320040"/>
          </a:xfrm>
          <a:prstGeom prst="rect">
            <a:avLst/>
          </a:prstGeom>
          <a:noFill/>
        </p:spPr>
        <p:txBody>
          <a:bodyPr wrap="square" lIns="0" tIns="0" rIns="0" bIns="0">
            <a:spAutoFit/>
          </a:bodyPr>
          <a:lstStyle/>
          <a:p>
            <a:pPr>
              <a:defRPr sz="1100">
                <a:solidFill>
                  <a:srgbClr val="8FB6D3"/>
                </a:solidFill>
                <a:latin typeface="IBM Plex Mono"/>
              </a:defRPr>
            </a:pPr>
            <a:r>
              <a:t>Lo que sobra: Capturas sin enlace o commits vacíos. Lo que vale: El hash consultable.</a:t>
            </a:r>
          </a:p>
        </p:txBody>
      </p:sp>
      <p:sp>
        <p:nvSpPr>
          <p:cNvPr id="11" name="TextBox 10"/>
          <p:cNvSpPr txBox="1"/>
          <p:nvPr/>
        </p:nvSpPr>
        <p:spPr>
          <a:xfrm>
            <a:off x="8686800" y="6309360"/>
            <a:ext cx="2773375" cy="320040"/>
          </a:xfrm>
          <a:prstGeom prst="rect">
            <a:avLst/>
          </a:prstGeom>
          <a:noFill/>
        </p:spPr>
        <p:txBody>
          <a:bodyPr wrap="square" lIns="0" tIns="0" rIns="0" bIns="0">
            <a:spAutoFit/>
          </a:bodyPr>
          <a:lstStyle/>
          <a:p>
            <a:pPr algn="r">
              <a:defRPr sz="1100" b="1">
                <a:solidFill>
                  <a:srgbClr val="72E0ED"/>
                </a:solidFill>
                <a:latin typeface="IBM Plex Mono"/>
              </a:defRPr>
            </a:pPr>
            <a:r>
              <a:t>1:55 - 2:25 (30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38"/>
          </a:solidFill>
          <a:ln>
            <a:solidFill>
              <a:srgbClr val="07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lIns="0" tIns="0" rIns="0" bIns="0">
            <a:spAutoFit/>
          </a:bodyPr>
          <a:lstStyle/>
          <a:p>
            <a:pPr>
              <a:defRPr sz="1100" b="1">
                <a:solidFill>
                  <a:srgbClr val="72E0ED"/>
                </a:solidFill>
                <a:latin typeface="IBM Plex Mono"/>
              </a:defRPr>
            </a:pPr>
            <a:r>
              <a:t>VALIDACIÓN HONESTA · LO QUE ES CIERTO Y LO QUE FALTA</a:t>
            </a:r>
          </a:p>
        </p:txBody>
      </p:sp>
      <p:sp>
        <p:nvSpPr>
          <p:cNvPr id="4" name="TextBox 3"/>
          <p:cNvSpPr txBox="1"/>
          <p:nvPr/>
        </p:nvSpPr>
        <p:spPr>
          <a:xfrm>
            <a:off x="731520" y="777240"/>
            <a:ext cx="10698480" cy="822960"/>
          </a:xfrm>
          <a:prstGeom prst="rect">
            <a:avLst/>
          </a:prstGeom>
          <a:noFill/>
        </p:spPr>
        <p:txBody>
          <a:bodyPr wrap="square" lIns="0" tIns="0" rIns="0" bIns="0">
            <a:spAutoFit/>
          </a:bodyPr>
          <a:lstStyle/>
          <a:p>
            <a:pPr>
              <a:defRPr sz="2700" b="1">
                <a:solidFill>
                  <a:srgbClr val="F0F7FB"/>
                </a:solidFill>
                <a:latin typeface="Space Grotesk"/>
              </a:defRPr>
            </a:pPr>
            <a:r>
              <a:rPr b="1">
                <a:solidFill>
                  <a:srgbClr val="72E0ED"/>
                </a:solidFill>
              </a:rPr>
              <a:t>LO COMPROBADO</a:t>
            </a:r>
            <a:r>
              <a:rPr b="1">
                <a:solidFill>
                  <a:srgbClr val="F0F7FB"/>
                </a:solidFill>
              </a:rPr>
              <a:t> Y LO POR COMPROBAR</a:t>
            </a:r>
          </a:p>
        </p:txBody>
      </p:sp>
      <p:sp>
        <p:nvSpPr>
          <p:cNvPr id="5" name="Rectangle 4"/>
          <p:cNvSpPr/>
          <p:nvPr/>
        </p:nvSpPr>
        <p:spPr>
          <a:xfrm>
            <a:off x="731520" y="1783080"/>
            <a:ext cx="3383280" cy="4160520"/>
          </a:xfrm>
          <a:prstGeom prst="rect">
            <a:avLst/>
          </a:prstGeom>
          <a:solidFill>
            <a:srgbClr val="113459"/>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3017520" cy="3657600"/>
          </a:xfrm>
          <a:prstGeom prst="rect">
            <a:avLst/>
          </a:prstGeom>
          <a:noFill/>
        </p:spPr>
        <p:txBody>
          <a:bodyPr wrap="square">
            <a:spAutoFit/>
          </a:bodyPr>
          <a:lstStyle/>
          <a:p>
            <a:pPr>
              <a:defRPr sz="1100" b="1">
                <a:solidFill>
                  <a:srgbClr val="F97316"/>
                </a:solidFill>
                <a:latin typeface="IBM Plex Mono"/>
              </a:defRPr>
            </a:pPr>
            <a:r>
              <a:t>«CREEMOS»</a:t>
            </a:r>
          </a:p>
          <a:p>
            <a:pPr>
              <a:spcBef>
                <a:spcPts val="800"/>
              </a:spcBef>
              <a:defRPr sz="1700" b="1">
                <a:solidFill>
                  <a:srgbClr val="F0F7FB"/>
                </a:solidFill>
                <a:latin typeface="Space Grotesk"/>
              </a:defRPr>
            </a:pPr>
            <a:r>
              <a:t>HIPÓTESIS CRÍTICA</a:t>
            </a:r>
          </a:p>
          <a:p>
            <a:pPr>
              <a:spcBef>
                <a:spcPts val="1200"/>
              </a:spcBef>
              <a:defRPr sz="1250">
                <a:solidFill>
                  <a:srgbClr val="8FB6D3"/>
                </a:solidFill>
                <a:latin typeface="IBM Plex Mono"/>
              </a:defRPr>
            </a:pPr>
            <a:r>
              <a:t>4 de cada 5 ilustradores independientes incluirán un enlace verificable de Authory en sus presupuestos comerciales para protegerse del plagio.</a:t>
            </a:r>
          </a:p>
        </p:txBody>
      </p:sp>
      <p:sp>
        <p:nvSpPr>
          <p:cNvPr id="7" name="Rectangle 6"/>
          <p:cNvSpPr/>
          <p:nvPr/>
        </p:nvSpPr>
        <p:spPr>
          <a:xfrm>
            <a:off x="4403750" y="1783080"/>
            <a:ext cx="3383280" cy="4160520"/>
          </a:xfrm>
          <a:prstGeom prst="rect">
            <a:avLst/>
          </a:prstGeom>
          <a:solidFill>
            <a:srgbClr val="113459"/>
          </a:solidFill>
          <a:ln w="25400">
            <a:solidFill>
              <a:srgbClr val="0FA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6630" y="2011680"/>
            <a:ext cx="3017520" cy="3657600"/>
          </a:xfrm>
          <a:prstGeom prst="rect">
            <a:avLst/>
          </a:prstGeom>
          <a:noFill/>
        </p:spPr>
        <p:txBody>
          <a:bodyPr wrap="square">
            <a:spAutoFit/>
          </a:bodyPr>
          <a:lstStyle/>
          <a:p>
            <a:pPr>
              <a:defRPr sz="1100" b="1">
                <a:solidFill>
                  <a:srgbClr val="0FAEC8"/>
                </a:solidFill>
                <a:latin typeface="IBM Plex Mono"/>
              </a:defRPr>
            </a:pPr>
            <a:r>
              <a:t>«OBSERVAMOS»</a:t>
            </a:r>
          </a:p>
          <a:p>
            <a:pPr>
              <a:spcBef>
                <a:spcPts val="800"/>
              </a:spcBef>
              <a:defRPr sz="1700" b="1">
                <a:solidFill>
                  <a:srgbClr val="F0F7FB"/>
                </a:solidFill>
                <a:latin typeface="Space Grotesk"/>
              </a:defRPr>
            </a:pPr>
            <a:r>
              <a:t>AJUSTE INTERNO</a:t>
            </a:r>
          </a:p>
          <a:p>
            <a:pPr>
              <a:spcBef>
                <a:spcPts val="1200"/>
              </a:spcBef>
              <a:defRPr sz="1250">
                <a:solidFill>
                  <a:srgbClr val="8FB6D3"/>
                </a:solidFill>
                <a:latin typeface="IBM Plex Mono"/>
              </a:defRPr>
            </a:pPr>
            <a:r>
              <a:t>Exigir wallet y gas en el onboarding expulsaba a creadores Web2. Ajustamos la UX para calcular SHA-256 en RAM instantáneamente sin barreras de entrada.</a:t>
            </a:r>
          </a:p>
        </p:txBody>
      </p:sp>
      <p:sp>
        <p:nvSpPr>
          <p:cNvPr id="9" name="Rectangle 8"/>
          <p:cNvSpPr/>
          <p:nvPr/>
        </p:nvSpPr>
        <p:spPr>
          <a:xfrm>
            <a:off x="8075980" y="1783080"/>
            <a:ext cx="3383280" cy="4160520"/>
          </a:xfrm>
          <a:prstGeom prst="rect">
            <a:avLst/>
          </a:prstGeom>
          <a:solidFill>
            <a:srgbClr val="113459"/>
          </a:solidFill>
          <a:ln w="2540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8860" y="2011680"/>
            <a:ext cx="3017520" cy="3657600"/>
          </a:xfrm>
          <a:prstGeom prst="rect">
            <a:avLst/>
          </a:prstGeom>
          <a:noFill/>
        </p:spPr>
        <p:txBody>
          <a:bodyPr wrap="square">
            <a:spAutoFit/>
          </a:bodyPr>
          <a:lstStyle/>
          <a:p>
            <a:pPr>
              <a:defRPr sz="1100" b="1">
                <a:solidFill>
                  <a:srgbClr val="38D39F"/>
                </a:solidFill>
                <a:latin typeface="IBM Plex Mono"/>
              </a:defRPr>
            </a:pPr>
            <a:r>
              <a:t>«COMPROBAMOS»</a:t>
            </a:r>
          </a:p>
          <a:p>
            <a:pPr>
              <a:spcBef>
                <a:spcPts val="800"/>
              </a:spcBef>
              <a:defRPr sz="1700" b="1">
                <a:solidFill>
                  <a:srgbClr val="F0F7FB"/>
                </a:solidFill>
                <a:latin typeface="Space Grotesk"/>
              </a:defRPr>
            </a:pPr>
            <a:r>
              <a:t>EVIDENCIA TÉCNICA</a:t>
            </a:r>
          </a:p>
          <a:p>
            <a:pPr>
              <a:spcBef>
                <a:spcPts val="1200"/>
              </a:spcBef>
              <a:defRPr sz="1250">
                <a:solidFill>
                  <a:srgbClr val="8FB6D3"/>
                </a:solidFill>
                <a:latin typeface="IBM Plex Mono"/>
              </a:defRPr>
            </a:pPr>
            <a:r>
              <a:t>Smart contract propio de 5 métodos en Soroban ejecutando atestaciones inmutables en menos de 3 segundos sobre Testnet con eventos nativos.</a:t>
            </a:r>
          </a:p>
        </p:txBody>
      </p:sp>
      <p:sp>
        <p:nvSpPr>
          <p:cNvPr id="11" name="Rectangle 10"/>
          <p:cNvSpPr/>
          <p:nvPr/>
        </p:nvSpPr>
        <p:spPr>
          <a:xfrm>
            <a:off x="731520" y="6236208"/>
            <a:ext cx="10728655" cy="18288"/>
          </a:xfrm>
          <a:prstGeom prst="rect">
            <a:avLst/>
          </a:prstGeom>
          <a:solidFill>
            <a:srgbClr val="1A4975"/>
          </a:solidFill>
          <a:ln>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09360"/>
            <a:ext cx="7772400" cy="320040"/>
          </a:xfrm>
          <a:prstGeom prst="rect">
            <a:avLst/>
          </a:prstGeom>
          <a:noFill/>
        </p:spPr>
        <p:txBody>
          <a:bodyPr wrap="square" lIns="0" tIns="0" rIns="0" bIns="0">
            <a:spAutoFit/>
          </a:bodyPr>
          <a:lstStyle/>
          <a:p>
            <a:pPr>
              <a:defRPr sz="1100">
                <a:solidFill>
                  <a:srgbClr val="8FB6D3"/>
                </a:solidFill>
                <a:latin typeface="IBM Plex Mono"/>
              </a:defRPr>
            </a:pPr>
            <a:r>
              <a:t>Decir con honestidad lo que falta no debilita la presentación: la hace creíble.</a:t>
            </a:r>
          </a:p>
        </p:txBody>
      </p:sp>
      <p:sp>
        <p:nvSpPr>
          <p:cNvPr id="13" name="TextBox 12"/>
          <p:cNvSpPr txBox="1"/>
          <p:nvPr/>
        </p:nvSpPr>
        <p:spPr>
          <a:xfrm>
            <a:off x="8686800" y="6309360"/>
            <a:ext cx="2773375" cy="320040"/>
          </a:xfrm>
          <a:prstGeom prst="rect">
            <a:avLst/>
          </a:prstGeom>
          <a:noFill/>
        </p:spPr>
        <p:txBody>
          <a:bodyPr wrap="square" lIns="0" tIns="0" rIns="0" bIns="0">
            <a:spAutoFit/>
          </a:bodyPr>
          <a:lstStyle/>
          <a:p>
            <a:pPr algn="r">
              <a:defRPr sz="1100" b="1">
                <a:solidFill>
                  <a:srgbClr val="72E0ED"/>
                </a:solidFill>
                <a:latin typeface="IBM Plex Mono"/>
              </a:defRPr>
            </a:pPr>
            <a:r>
              <a:t>2:25 - 2:45 (20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38"/>
          </a:solidFill>
          <a:ln>
            <a:solidFill>
              <a:srgbClr val="07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lIns="0" tIns="0" rIns="0" bIns="0">
            <a:spAutoFit/>
          </a:bodyPr>
          <a:lstStyle/>
          <a:p>
            <a:pPr>
              <a:defRPr sz="1100" b="1">
                <a:solidFill>
                  <a:srgbClr val="38D39F"/>
                </a:solidFill>
                <a:latin typeface="IBM Plex Mono"/>
              </a:defRPr>
            </a:pPr>
            <a:r>
              <a:t>CIERRE DEL PITCH (MINUTO 3:00) · PEDIDO CONCRETO</a:t>
            </a:r>
          </a:p>
        </p:txBody>
      </p:sp>
      <p:sp>
        <p:nvSpPr>
          <p:cNvPr id="4" name="TextBox 3"/>
          <p:cNvSpPr txBox="1"/>
          <p:nvPr/>
        </p:nvSpPr>
        <p:spPr>
          <a:xfrm>
            <a:off x="731520" y="777240"/>
            <a:ext cx="10698480" cy="822960"/>
          </a:xfrm>
          <a:prstGeom prst="rect">
            <a:avLst/>
          </a:prstGeom>
          <a:noFill/>
        </p:spPr>
        <p:txBody>
          <a:bodyPr wrap="square" lIns="0" tIns="0" rIns="0" bIns="0">
            <a:spAutoFit/>
          </a:bodyPr>
          <a:lstStyle/>
          <a:p>
            <a:pPr>
              <a:defRPr sz="2700" b="1">
                <a:solidFill>
                  <a:srgbClr val="F0F7FB"/>
                </a:solidFill>
                <a:latin typeface="Space Grotesk"/>
              </a:defRPr>
            </a:pPr>
            <a:r>
              <a:t>EL FUTURO DE AUTHORY: </a:t>
            </a:r>
            <a:r>
              <a:rPr b="1">
                <a:solidFill>
                  <a:srgbClr val="72E0ED"/>
                </a:solidFill>
              </a:rPr>
              <a:t>PEDIDO CONCRETO</a:t>
            </a:r>
          </a:p>
        </p:txBody>
      </p:sp>
      <p:sp>
        <p:nvSpPr>
          <p:cNvPr id="5" name="Rectangle 4"/>
          <p:cNvSpPr/>
          <p:nvPr/>
        </p:nvSpPr>
        <p:spPr>
          <a:xfrm>
            <a:off x="731520" y="1783080"/>
            <a:ext cx="5212080" cy="3200400"/>
          </a:xfrm>
          <a:prstGeom prst="rect">
            <a:avLst/>
          </a:prstGeom>
          <a:solidFill>
            <a:srgbClr val="0D2744"/>
          </a:solidFill>
          <a:ln w="25400">
            <a:solidFill>
              <a:srgbClr val="0FA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663440" cy="2743200"/>
          </a:xfrm>
          <a:prstGeom prst="rect">
            <a:avLst/>
          </a:prstGeom>
          <a:noFill/>
        </p:spPr>
        <p:txBody>
          <a:bodyPr wrap="square">
            <a:spAutoFit/>
          </a:bodyPr>
          <a:lstStyle/>
          <a:p>
            <a:pPr>
              <a:defRPr sz="1100" b="1">
                <a:solidFill>
                  <a:srgbClr val="0FAEC8"/>
                </a:solidFill>
                <a:latin typeface="IBM Plex Mono"/>
              </a:defRPr>
            </a:pPr>
            <a:r>
              <a:t>HOJA DE RUTA (PRÓXIMOS 30 DÍAS)</a:t>
            </a:r>
          </a:p>
          <a:p>
            <a:pPr>
              <a:spcBef>
                <a:spcPts val="600"/>
              </a:spcBef>
              <a:defRPr sz="1800" b="1">
                <a:solidFill>
                  <a:srgbClr val="F0F7FB"/>
                </a:solidFill>
                <a:latin typeface="Space Grotesk"/>
              </a:defRPr>
            </a:pPr>
            <a:r>
              <a:t>Hacia la Autocustodia Web3</a:t>
            </a:r>
          </a:p>
          <a:p>
            <a:pPr>
              <a:spcBef>
                <a:spcPts val="1000"/>
              </a:spcBef>
              <a:defRPr sz="1200">
                <a:solidFill>
                  <a:srgbClr val="8FB6D3"/>
                </a:solidFill>
                <a:latin typeface="IBM Plex Mono"/>
              </a:defRPr>
            </a:pPr>
            <a:r>
              <a:t>1. Integrar Stellar Wallets Kit (Freighter, xBull, Lobstr) para que cada autor firme transacciones con su propia clave privada.</a:t>
            </a:r>
            <a:br/>
            <a:br/>
            <a:r>
              <a:t>2. Piloto controlado con 10 ilustradores independientes en Colombia y México.</a:t>
            </a:r>
          </a:p>
        </p:txBody>
      </p:sp>
      <p:sp>
        <p:nvSpPr>
          <p:cNvPr id="7" name="Rectangle 6"/>
          <p:cNvSpPr/>
          <p:nvPr/>
        </p:nvSpPr>
        <p:spPr>
          <a:xfrm>
            <a:off x="6217920" y="1783080"/>
            <a:ext cx="5212080" cy="3200400"/>
          </a:xfrm>
          <a:prstGeom prst="rect">
            <a:avLst/>
          </a:prstGeom>
          <a:solidFill>
            <a:srgbClr val="113459"/>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663440" cy="2743200"/>
          </a:xfrm>
          <a:prstGeom prst="rect">
            <a:avLst/>
          </a:prstGeom>
          <a:noFill/>
        </p:spPr>
        <p:txBody>
          <a:bodyPr wrap="square">
            <a:spAutoFit/>
          </a:bodyPr>
          <a:lstStyle/>
          <a:p>
            <a:pPr>
              <a:defRPr sz="1100" b="1">
                <a:solidFill>
                  <a:srgbClr val="F97316"/>
                </a:solidFill>
                <a:latin typeface="IBM Plex Mono"/>
              </a:defRPr>
            </a:pPr>
            <a:r>
              <a:t>PEDIDO CONCRETO AL JURADO Y MENTORES</a:t>
            </a:r>
          </a:p>
          <a:p>
            <a:pPr>
              <a:spcBef>
                <a:spcPts val="600"/>
              </a:spcBef>
              <a:defRPr sz="1800" b="1">
                <a:solidFill>
                  <a:srgbClr val="72E0ED"/>
                </a:solidFill>
                <a:latin typeface="Space Grotesk"/>
              </a:defRPr>
            </a:pPr>
            <a:r>
              <a:t>¿Cómo nos pueden apoyar hoy?</a:t>
            </a:r>
          </a:p>
          <a:p>
            <a:pPr>
              <a:spcBef>
                <a:spcPts val="1000"/>
              </a:spcBef>
              <a:defRPr sz="1400" b="1">
                <a:solidFill>
                  <a:srgbClr val="F0F7FB"/>
                </a:solidFill>
                <a:latin typeface="IBM Plex Mono"/>
              </a:defRPr>
            </a:pPr>
            <a:r>
              <a:t>«Buscamos 5 agencias creativas y 10 creadores independientes que quieran proteger y certificar sus próximas 3 entregas comerciales con Authory.»</a:t>
            </a:r>
          </a:p>
        </p:txBody>
      </p:sp>
      <p:sp>
        <p:nvSpPr>
          <p:cNvPr id="9" name="Rectangle 8"/>
          <p:cNvSpPr/>
          <p:nvPr/>
        </p:nvSpPr>
        <p:spPr>
          <a:xfrm>
            <a:off x="731520" y="5166360"/>
            <a:ext cx="10728655" cy="868680"/>
          </a:xfrm>
          <a:prstGeom prst="rect">
            <a:avLst/>
          </a:prstGeom>
          <a:solidFill>
            <a:srgbClr val="0D2744"/>
          </a:solidFill>
          <a:ln w="2540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257800"/>
            <a:ext cx="10180015" cy="685800"/>
          </a:xfrm>
          <a:prstGeom prst="rect">
            <a:avLst/>
          </a:prstGeom>
          <a:noFill/>
        </p:spPr>
        <p:txBody>
          <a:bodyPr wrap="square">
            <a:spAutoFit/>
          </a:bodyPr>
          <a:lstStyle/>
          <a:p>
            <a:pPr>
              <a:defRPr sz="1000" b="1">
                <a:solidFill>
                  <a:srgbClr val="38D39F"/>
                </a:solidFill>
                <a:latin typeface="IBM Plex Mono"/>
              </a:defRPr>
            </a:pPr>
            <a:r>
              <a:t>🎙️ TRANSICIÓN A LA DEMO EN VIVO:</a:t>
            </a:r>
          </a:p>
          <a:p>
            <a:pPr>
              <a:spcBef>
                <a:spcPts val="200"/>
              </a:spcBef>
              <a:defRPr sz="1400" b="1">
                <a:solidFill>
                  <a:srgbClr val="F0F7FB"/>
                </a:solidFill>
                <a:latin typeface="Space Grotesk"/>
              </a:defRPr>
            </a:pPr>
            <a:r>
              <a:t>«Y para ver exactamente cómo lo vive Mateo en tiempo real, pasemos a nuestra demostración en vivo.»</a:t>
            </a:r>
          </a:p>
        </p:txBody>
      </p:sp>
      <p:sp>
        <p:nvSpPr>
          <p:cNvPr id="11" name="Rectangle 10"/>
          <p:cNvSpPr/>
          <p:nvPr/>
        </p:nvSpPr>
        <p:spPr>
          <a:xfrm>
            <a:off x="731520" y="6236208"/>
            <a:ext cx="10728655" cy="18288"/>
          </a:xfrm>
          <a:prstGeom prst="rect">
            <a:avLst/>
          </a:prstGeom>
          <a:solidFill>
            <a:srgbClr val="1A4975"/>
          </a:solidFill>
          <a:ln>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09360"/>
            <a:ext cx="7772400" cy="320040"/>
          </a:xfrm>
          <a:prstGeom prst="rect">
            <a:avLst/>
          </a:prstGeom>
          <a:noFill/>
        </p:spPr>
        <p:txBody>
          <a:bodyPr wrap="square" lIns="0" tIns="0" rIns="0" bIns="0">
            <a:spAutoFit/>
          </a:bodyPr>
          <a:lstStyle/>
          <a:p>
            <a:pPr>
              <a:defRPr sz="1100">
                <a:solidFill>
                  <a:srgbClr val="8FB6D3"/>
                </a:solidFill>
                <a:latin typeface="IBM Plex Mono"/>
              </a:defRPr>
            </a:pPr>
            <a:r>
              <a:t>FIN DEL BLOQUE 1 (3:00 MIN) · PANTALLA COMPARTIDA DE LA DEMO</a:t>
            </a:r>
          </a:p>
        </p:txBody>
      </p:sp>
      <p:sp>
        <p:nvSpPr>
          <p:cNvPr id="13" name="TextBox 12"/>
          <p:cNvSpPr txBox="1"/>
          <p:nvPr/>
        </p:nvSpPr>
        <p:spPr>
          <a:xfrm>
            <a:off x="8686800" y="6309360"/>
            <a:ext cx="2773375" cy="320040"/>
          </a:xfrm>
          <a:prstGeom prst="rect">
            <a:avLst/>
          </a:prstGeom>
          <a:noFill/>
        </p:spPr>
        <p:txBody>
          <a:bodyPr wrap="square" lIns="0" tIns="0" rIns="0" bIns="0">
            <a:spAutoFit/>
          </a:bodyPr>
          <a:lstStyle/>
          <a:p>
            <a:pPr algn="r">
              <a:defRPr sz="1100" b="1">
                <a:solidFill>
                  <a:srgbClr val="72E0ED"/>
                </a:solidFill>
                <a:latin typeface="IBM Plex Mono"/>
              </a:defRPr>
            </a:pPr>
            <a:r>
              <a:t>2:45 - 3:00 (15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38"/>
          </a:solidFill>
          <a:ln>
            <a:solidFill>
              <a:srgbClr val="07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lIns="0" tIns="0" rIns="0" bIns="0">
            <a:spAutoFit/>
          </a:bodyPr>
          <a:lstStyle/>
          <a:p>
            <a:pPr>
              <a:defRPr sz="1100" b="1">
                <a:solidFill>
                  <a:srgbClr val="0FAEC8"/>
                </a:solidFill>
                <a:latin typeface="IBM Plex Mono"/>
              </a:defRPr>
            </a:pPr>
            <a:r>
              <a:t>BLOQUE 2: DEMOSTRACIÓN EN VIVO · 2 MINUTOS COMPLETOS (3:00 - 5:00)</a:t>
            </a:r>
          </a:p>
        </p:txBody>
      </p:sp>
      <p:sp>
        <p:nvSpPr>
          <p:cNvPr id="4" name="TextBox 3"/>
          <p:cNvSpPr txBox="1"/>
          <p:nvPr/>
        </p:nvSpPr>
        <p:spPr>
          <a:xfrm>
            <a:off x="731520" y="777240"/>
            <a:ext cx="10698480" cy="822960"/>
          </a:xfrm>
          <a:prstGeom prst="rect">
            <a:avLst/>
          </a:prstGeom>
          <a:noFill/>
        </p:spPr>
        <p:txBody>
          <a:bodyPr wrap="square" lIns="0" tIns="0" rIns="0" bIns="0">
            <a:spAutoFit/>
          </a:bodyPr>
          <a:lstStyle/>
          <a:p>
            <a:pPr>
              <a:defRPr sz="2700" b="1">
                <a:solidFill>
                  <a:srgbClr val="F0F7FB"/>
                </a:solidFill>
                <a:latin typeface="Space Grotesk"/>
              </a:defRPr>
            </a:pPr>
            <a:r>
              <a:t>UN SOLO FLUJO, </a:t>
            </a:r>
            <a:r>
              <a:rPr b="1">
                <a:solidFill>
                  <a:srgbClr val="72E0ED"/>
                </a:solidFill>
              </a:rPr>
              <a:t>DE PUNTA A PUNTA</a:t>
            </a:r>
          </a:p>
        </p:txBody>
      </p:sp>
      <p:sp>
        <p:nvSpPr>
          <p:cNvPr id="5" name="Rectangle 4"/>
          <p:cNvSpPr/>
          <p:nvPr/>
        </p:nvSpPr>
        <p:spPr>
          <a:xfrm>
            <a:off x="731520" y="1783080"/>
            <a:ext cx="2514600" cy="3017520"/>
          </a:xfrm>
          <a:prstGeom prst="rect">
            <a:avLst/>
          </a:prstGeom>
          <a:solidFill>
            <a:srgbClr val="113459"/>
          </a:solidFill>
          <a:ln w="25400">
            <a:solidFill>
              <a:srgbClr val="0FA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2148840" cy="2651760"/>
          </a:xfrm>
          <a:prstGeom prst="rect">
            <a:avLst/>
          </a:prstGeom>
          <a:noFill/>
        </p:spPr>
        <p:txBody>
          <a:bodyPr wrap="square">
            <a:spAutoFit/>
          </a:bodyPr>
          <a:lstStyle/>
          <a:p>
            <a:pPr>
              <a:defRPr sz="1000" b="1">
                <a:solidFill>
                  <a:srgbClr val="0FAEC8"/>
                </a:solidFill>
                <a:latin typeface="IBM Plex Mono"/>
              </a:defRPr>
            </a:pPr>
            <a:r>
              <a:t>0:00 - 0:30 (30 s)</a:t>
            </a:r>
          </a:p>
          <a:p>
            <a:pPr>
              <a:spcBef>
                <a:spcPts val="600"/>
              </a:spcBef>
              <a:defRPr sz="1500" b="1">
                <a:solidFill>
                  <a:srgbClr val="F0F7FB"/>
                </a:solidFill>
                <a:latin typeface="Space Grotesk"/>
              </a:defRPr>
            </a:pPr>
            <a:r>
              <a:t>1. HASH EN RAM</a:t>
            </a:r>
          </a:p>
          <a:p>
            <a:pPr>
              <a:spcBef>
                <a:spcPts val="800"/>
              </a:spcBef>
              <a:defRPr sz="1100">
                <a:solidFill>
                  <a:srgbClr val="8FB6D3"/>
                </a:solidFill>
                <a:latin typeface="IBM Plex Mono"/>
              </a:defRPr>
            </a:pPr>
            <a:r>
              <a:t>Mateo sube su obra. La Web Crypto API calcula el hash SHA-256 en su RAM. El archivo original jamás viaja a la red.</a:t>
            </a:r>
          </a:p>
        </p:txBody>
      </p:sp>
      <p:sp>
        <p:nvSpPr>
          <p:cNvPr id="7" name="Rectangle 6"/>
          <p:cNvSpPr/>
          <p:nvPr/>
        </p:nvSpPr>
        <p:spPr>
          <a:xfrm>
            <a:off x="3465576" y="1783080"/>
            <a:ext cx="2514600" cy="3017520"/>
          </a:xfrm>
          <a:prstGeom prst="rect">
            <a:avLst/>
          </a:prstGeom>
          <a:solidFill>
            <a:srgbClr val="113459"/>
          </a:solidFill>
          <a:ln w="25400">
            <a:solidFill>
              <a:srgbClr val="72E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48456" y="1965960"/>
            <a:ext cx="2148840" cy="2651760"/>
          </a:xfrm>
          <a:prstGeom prst="rect">
            <a:avLst/>
          </a:prstGeom>
          <a:noFill/>
        </p:spPr>
        <p:txBody>
          <a:bodyPr wrap="square">
            <a:spAutoFit/>
          </a:bodyPr>
          <a:lstStyle/>
          <a:p>
            <a:pPr>
              <a:defRPr sz="1000" b="1">
                <a:solidFill>
                  <a:srgbClr val="72E0ED"/>
                </a:solidFill>
                <a:latin typeface="IBM Plex Mono"/>
              </a:defRPr>
            </a:pPr>
            <a:r>
              <a:t>0:30 - 1:00 (30 s)</a:t>
            </a:r>
          </a:p>
          <a:p>
            <a:pPr>
              <a:spcBef>
                <a:spcPts val="600"/>
              </a:spcBef>
              <a:defRPr sz="1500" b="1">
                <a:solidFill>
                  <a:srgbClr val="F0F7FB"/>
                </a:solidFill>
                <a:latin typeface="Space Grotesk"/>
              </a:defRPr>
            </a:pPr>
            <a:r>
              <a:t>2. SOROBAN</a:t>
            </a:r>
          </a:p>
          <a:p>
            <a:pPr>
              <a:spcBef>
                <a:spcPts val="800"/>
              </a:spcBef>
              <a:defRPr sz="1100">
                <a:solidFill>
                  <a:srgbClr val="8FB6D3"/>
                </a:solidFill>
                <a:latin typeface="IBM Plex Mono"/>
              </a:defRPr>
            </a:pPr>
            <a:r>
              <a:t>El smart contract en Stellar Testnet estampa la huella inmutable y emite el evento nativo work_reg.</a:t>
            </a:r>
          </a:p>
        </p:txBody>
      </p:sp>
      <p:sp>
        <p:nvSpPr>
          <p:cNvPr id="9" name="Rectangle 8"/>
          <p:cNvSpPr/>
          <p:nvPr/>
        </p:nvSpPr>
        <p:spPr>
          <a:xfrm>
            <a:off x="6199632" y="1783080"/>
            <a:ext cx="2514600" cy="3017520"/>
          </a:xfrm>
          <a:prstGeom prst="rect">
            <a:avLst/>
          </a:prstGeom>
          <a:solidFill>
            <a:srgbClr val="113459"/>
          </a:solidFill>
          <a:ln w="2540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965960"/>
            <a:ext cx="2148840" cy="2651760"/>
          </a:xfrm>
          <a:prstGeom prst="rect">
            <a:avLst/>
          </a:prstGeom>
          <a:noFill/>
        </p:spPr>
        <p:txBody>
          <a:bodyPr wrap="square">
            <a:spAutoFit/>
          </a:bodyPr>
          <a:lstStyle/>
          <a:p>
            <a:pPr>
              <a:defRPr sz="1000" b="1">
                <a:solidFill>
                  <a:srgbClr val="38D39F"/>
                </a:solidFill>
                <a:latin typeface="IBM Plex Mono"/>
              </a:defRPr>
            </a:pPr>
            <a:r>
              <a:t>1:00 - 1:35 (35 s)</a:t>
            </a:r>
          </a:p>
          <a:p>
            <a:pPr>
              <a:spcBef>
                <a:spcPts val="600"/>
              </a:spcBef>
              <a:defRPr sz="1500" b="1">
                <a:solidFill>
                  <a:srgbClr val="F0F7FB"/>
                </a:solidFill>
                <a:latin typeface="Space Grotesk"/>
              </a:defRPr>
            </a:pPr>
            <a:r>
              <a:t>3. AUDITORÍA</a:t>
            </a:r>
          </a:p>
          <a:p>
            <a:pPr>
              <a:spcBef>
                <a:spcPts val="800"/>
              </a:spcBef>
              <a:defRPr sz="1100">
                <a:solidFill>
                  <a:srgbClr val="8FB6D3"/>
                </a:solidFill>
                <a:latin typeface="IBM Plex Mono"/>
              </a:defRPr>
            </a:pPr>
            <a:r>
              <a:t>La editorial entra a /verificar, sube el archivo recibido y comprueba autoría y precedencia en &lt;3 s sin tener cuenta.</a:t>
            </a:r>
          </a:p>
        </p:txBody>
      </p:sp>
      <p:sp>
        <p:nvSpPr>
          <p:cNvPr id="11" name="Rectangle 10"/>
          <p:cNvSpPr/>
          <p:nvPr/>
        </p:nvSpPr>
        <p:spPr>
          <a:xfrm>
            <a:off x="8933688" y="1783080"/>
            <a:ext cx="2514600" cy="3017520"/>
          </a:xfrm>
          <a:prstGeom prst="rect">
            <a:avLst/>
          </a:prstGeom>
          <a:solidFill>
            <a:srgbClr val="113459"/>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16568" y="1965960"/>
            <a:ext cx="2148840" cy="2651760"/>
          </a:xfrm>
          <a:prstGeom prst="rect">
            <a:avLst/>
          </a:prstGeom>
          <a:noFill/>
        </p:spPr>
        <p:txBody>
          <a:bodyPr wrap="square">
            <a:spAutoFit/>
          </a:bodyPr>
          <a:lstStyle/>
          <a:p>
            <a:pPr>
              <a:defRPr sz="1000" b="1">
                <a:solidFill>
                  <a:srgbClr val="F97316"/>
                </a:solidFill>
                <a:latin typeface="IBM Plex Mono"/>
              </a:defRPr>
            </a:pPr>
            <a:r>
              <a:t>1:35 - 2:00 (25 s)</a:t>
            </a:r>
          </a:p>
          <a:p>
            <a:pPr>
              <a:spcBef>
                <a:spcPts val="600"/>
              </a:spcBef>
              <a:defRPr sz="1500" b="1">
                <a:solidFill>
                  <a:srgbClr val="F0F7FB"/>
                </a:solidFill>
                <a:latin typeface="Space Grotesk"/>
              </a:defRPr>
            </a:pPr>
            <a:r>
              <a:t>4. COMPROBANTE</a:t>
            </a:r>
          </a:p>
          <a:p>
            <a:pPr>
              <a:spcBef>
                <a:spcPts val="800"/>
              </a:spcBef>
              <a:defRPr sz="1100">
                <a:solidFill>
                  <a:srgbClr val="8FB6D3"/>
                </a:solidFill>
                <a:latin typeface="IBM Plex Mono"/>
              </a:defRPr>
            </a:pPr>
            <a:r>
              <a:t>Inspección pública del ledger en Stellar Expert: evento y bloque consultable por terceros.</a:t>
            </a:r>
          </a:p>
        </p:txBody>
      </p:sp>
      <p:sp>
        <p:nvSpPr>
          <p:cNvPr id="13" name="Rectangle 12"/>
          <p:cNvSpPr/>
          <p:nvPr/>
        </p:nvSpPr>
        <p:spPr>
          <a:xfrm>
            <a:off x="731520" y="4983480"/>
            <a:ext cx="10728655" cy="1051560"/>
          </a:xfrm>
          <a:prstGeom prst="rect">
            <a:avLst/>
          </a:prstGeom>
          <a:solidFill>
            <a:srgbClr val="0D2744"/>
          </a:solidFill>
          <a:ln w="25400">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074920"/>
            <a:ext cx="10180015" cy="868680"/>
          </a:xfrm>
          <a:prstGeom prst="rect">
            <a:avLst/>
          </a:prstGeom>
          <a:noFill/>
        </p:spPr>
        <p:txBody>
          <a:bodyPr wrap="square">
            <a:spAutoFit/>
          </a:bodyPr>
          <a:lstStyle/>
          <a:p>
            <a:pPr>
              <a:defRPr sz="1100" b="1">
                <a:solidFill>
                  <a:srgbClr val="72E0ED"/>
                </a:solidFill>
                <a:latin typeface="IBM Plex Mono"/>
              </a:defRPr>
            </a:pPr>
            <a:r>
              <a:t>⚠️ PROTOCOLO PLAN B EN CASO DE CONTINGENCIA:</a:t>
            </a:r>
          </a:p>
          <a:p>
            <a:pPr>
              <a:spcBef>
                <a:spcPts val="300"/>
              </a:spcBef>
              <a:defRPr sz="1200">
                <a:solidFill>
                  <a:srgbClr val="F0F7FB"/>
                </a:solidFill>
                <a:latin typeface="IBM Plex Mono"/>
              </a:defRPr>
            </a:pPr>
            <a:r>
              <a:t>Si Soroban tarda &gt;10 s, pasar a pestaña de Stellar Expert con la transacción confirmada. Si falla la red, video de YouTube (1:15). | App en vivo: authority-khaki.vercel.app</a:t>
            </a:r>
          </a:p>
        </p:txBody>
      </p:sp>
      <p:sp>
        <p:nvSpPr>
          <p:cNvPr id="15" name="Rectangle 14"/>
          <p:cNvSpPr/>
          <p:nvPr/>
        </p:nvSpPr>
        <p:spPr>
          <a:xfrm>
            <a:off x="731520" y="6236208"/>
            <a:ext cx="10728655" cy="18288"/>
          </a:xfrm>
          <a:prstGeom prst="rect">
            <a:avLst/>
          </a:prstGeom>
          <a:solidFill>
            <a:srgbClr val="1A4975"/>
          </a:solidFill>
          <a:ln>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60"/>
            <a:ext cx="7772400" cy="320040"/>
          </a:xfrm>
          <a:prstGeom prst="rect">
            <a:avLst/>
          </a:prstGeom>
          <a:noFill/>
        </p:spPr>
        <p:txBody>
          <a:bodyPr wrap="square" lIns="0" tIns="0" rIns="0" bIns="0">
            <a:spAutoFit/>
          </a:bodyPr>
          <a:lstStyle/>
          <a:p>
            <a:pPr>
              <a:defRPr sz="1100">
                <a:solidFill>
                  <a:srgbClr val="8FB6D3"/>
                </a:solidFill>
                <a:latin typeface="IBM Plex Mono"/>
              </a:defRPr>
            </a:pPr>
            <a:r>
              <a:t>REGLA: El driver ejecuta en silencio; el orador narra resultados y valor para Mateo.</a:t>
            </a:r>
          </a:p>
        </p:txBody>
      </p:sp>
      <p:sp>
        <p:nvSpPr>
          <p:cNvPr id="17" name="TextBox 16"/>
          <p:cNvSpPr txBox="1"/>
          <p:nvPr/>
        </p:nvSpPr>
        <p:spPr>
          <a:xfrm>
            <a:off x="8686800" y="6309360"/>
            <a:ext cx="2773375" cy="320040"/>
          </a:xfrm>
          <a:prstGeom prst="rect">
            <a:avLst/>
          </a:prstGeom>
          <a:noFill/>
        </p:spPr>
        <p:txBody>
          <a:bodyPr wrap="square" lIns="0" tIns="0" rIns="0" bIns="0">
            <a:spAutoFit/>
          </a:bodyPr>
          <a:lstStyle/>
          <a:p>
            <a:pPr algn="r">
              <a:defRPr sz="1100" b="1">
                <a:solidFill>
                  <a:srgbClr val="72E0ED"/>
                </a:solidFill>
                <a:latin typeface="IBM Plex Mono"/>
              </a:defRPr>
            </a:pPr>
            <a:r>
              <a:t>3:00 - 5:00 (2:00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F38"/>
          </a:solidFill>
          <a:ln>
            <a:solidFill>
              <a:srgbClr val="071F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lIns="0" tIns="0" rIns="0" bIns="0">
            <a:spAutoFit/>
          </a:bodyPr>
          <a:lstStyle/>
          <a:p>
            <a:pPr>
              <a:defRPr sz="1100" b="1">
                <a:solidFill>
                  <a:srgbClr val="38D39F"/>
                </a:solidFill>
                <a:latin typeface="IBM Plex Mono"/>
              </a:defRPr>
            </a:pPr>
            <a:r>
              <a:t>BLOQUE 3: PREGUNTAS DEL JURADO · 2 MINUTOS (5:00 - 7:00)</a:t>
            </a:r>
          </a:p>
        </p:txBody>
      </p:sp>
      <p:sp>
        <p:nvSpPr>
          <p:cNvPr id="4" name="TextBox 3"/>
          <p:cNvSpPr txBox="1"/>
          <p:nvPr/>
        </p:nvSpPr>
        <p:spPr>
          <a:xfrm>
            <a:off x="731520" y="777240"/>
            <a:ext cx="10698480" cy="822960"/>
          </a:xfrm>
          <a:prstGeom prst="rect">
            <a:avLst/>
          </a:prstGeom>
          <a:noFill/>
        </p:spPr>
        <p:txBody>
          <a:bodyPr wrap="square" lIns="0" tIns="0" rIns="0" bIns="0">
            <a:spAutoFit/>
          </a:bodyPr>
          <a:lstStyle/>
          <a:p>
            <a:pPr>
              <a:defRPr sz="2700" b="1">
                <a:solidFill>
                  <a:srgbClr val="F0F7FB"/>
                </a:solidFill>
                <a:latin typeface="Space Grotesk"/>
              </a:defRPr>
            </a:pPr>
            <a:r>
              <a:t>BANCO DE RESPUESTAS: </a:t>
            </a:r>
            <a:r>
              <a:rPr b="1">
                <a:solidFill>
                  <a:srgbClr val="72E0ED"/>
                </a:solidFill>
              </a:rPr>
              <a:t>Q&amp;A DEL JURADO</a:t>
            </a:r>
          </a:p>
        </p:txBody>
      </p:sp>
      <p:sp>
        <p:nvSpPr>
          <p:cNvPr id="5" name="Rectangle 4"/>
          <p:cNvSpPr/>
          <p:nvPr/>
        </p:nvSpPr>
        <p:spPr>
          <a:xfrm>
            <a:off x="731520" y="1783080"/>
            <a:ext cx="5212080" cy="2011680"/>
          </a:xfrm>
          <a:prstGeom prst="rect">
            <a:avLst/>
          </a:prstGeom>
          <a:solidFill>
            <a:srgbClr val="113459"/>
          </a:solidFill>
          <a:ln w="25400">
            <a:solidFill>
              <a:srgbClr val="0FAE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846320" cy="1737360"/>
          </a:xfrm>
          <a:prstGeom prst="rect">
            <a:avLst/>
          </a:prstGeom>
          <a:noFill/>
        </p:spPr>
        <p:txBody>
          <a:bodyPr wrap="square">
            <a:spAutoFit/>
          </a:bodyPr>
          <a:lstStyle/>
          <a:p>
            <a:pPr>
              <a:defRPr sz="1100" b="1">
                <a:solidFill>
                  <a:srgbClr val="0FAEC8"/>
                </a:solidFill>
                <a:latin typeface="IBM Plex Mono"/>
              </a:defRPr>
            </a:pPr>
            <a:r>
              <a:t>P1: ¿POR QUÉ NO POSTGRESQL / BASE DE DATOS TRADICIONAL?</a:t>
            </a:r>
          </a:p>
          <a:p>
            <a:pPr>
              <a:spcBef>
                <a:spcPts val="600"/>
              </a:spcBef>
              <a:defRPr sz="1150">
                <a:solidFill>
                  <a:srgbClr val="F0F7FB"/>
                </a:solidFill>
                <a:latin typeface="IBM Plex Mono"/>
              </a:defRPr>
            </a:pPr>
            <a:r>
              <a:t>Respuesta: En una base de datos tradicional, la validez depende de confiar en el administrador del servidor. En Stellar, el registro es descentralizado, inmutable e independiente de la empresa, con comisiones de &lt;$0.001 USD.</a:t>
            </a:r>
          </a:p>
        </p:txBody>
      </p:sp>
      <p:sp>
        <p:nvSpPr>
          <p:cNvPr id="7" name="Rectangle 6"/>
          <p:cNvSpPr/>
          <p:nvPr/>
        </p:nvSpPr>
        <p:spPr>
          <a:xfrm>
            <a:off x="6248095" y="1783080"/>
            <a:ext cx="5212080" cy="2011680"/>
          </a:xfrm>
          <a:prstGeom prst="rect">
            <a:avLst/>
          </a:prstGeom>
          <a:solidFill>
            <a:srgbClr val="113459"/>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0975" y="1920240"/>
            <a:ext cx="4846320" cy="1737360"/>
          </a:xfrm>
          <a:prstGeom prst="rect">
            <a:avLst/>
          </a:prstGeom>
          <a:noFill/>
        </p:spPr>
        <p:txBody>
          <a:bodyPr wrap="square">
            <a:spAutoFit/>
          </a:bodyPr>
          <a:lstStyle/>
          <a:p>
            <a:pPr>
              <a:defRPr sz="1100" b="1">
                <a:solidFill>
                  <a:srgbClr val="F97316"/>
                </a:solidFill>
                <a:latin typeface="IBM Plex Mono"/>
              </a:defRPr>
            </a:pPr>
            <a:r>
              <a:t>P2: ¿Y SI ALGUIEN REGISTRA UNA OBRA QUE NO ES SUYA?</a:t>
            </a:r>
          </a:p>
          <a:p>
            <a:pPr>
              <a:spcBef>
                <a:spcPts val="600"/>
              </a:spcBef>
              <a:defRPr sz="1150">
                <a:solidFill>
                  <a:srgbClr val="F0F7FB"/>
                </a:solidFill>
                <a:latin typeface="IBM Plex Mono"/>
              </a:defRPr>
            </a:pPr>
            <a:r>
              <a:t>Respuesta: La red garantiza la precedencia temporal matemática en un momento del tiempo, no la verdad física. Mateo obtiene una prueba irrefutable de posesión anterior que desmiente cualquier intento de registro posterior.</a:t>
            </a:r>
          </a:p>
        </p:txBody>
      </p:sp>
      <p:sp>
        <p:nvSpPr>
          <p:cNvPr id="9" name="Rectangle 8"/>
          <p:cNvSpPr/>
          <p:nvPr/>
        </p:nvSpPr>
        <p:spPr>
          <a:xfrm>
            <a:off x="731520" y="3931920"/>
            <a:ext cx="5212080" cy="2011680"/>
          </a:xfrm>
          <a:prstGeom prst="rect">
            <a:avLst/>
          </a:prstGeom>
          <a:solidFill>
            <a:srgbClr val="113459"/>
          </a:solidFill>
          <a:ln w="25400">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80"/>
            <a:ext cx="4846320" cy="1737360"/>
          </a:xfrm>
          <a:prstGeom prst="rect">
            <a:avLst/>
          </a:prstGeom>
          <a:noFill/>
        </p:spPr>
        <p:txBody>
          <a:bodyPr wrap="square">
            <a:spAutoFit/>
          </a:bodyPr>
          <a:lstStyle/>
          <a:p>
            <a:pPr>
              <a:defRPr sz="1100" b="1">
                <a:solidFill>
                  <a:srgbClr val="1A4975"/>
                </a:solidFill>
                <a:latin typeface="IBM Plex Mono"/>
              </a:defRPr>
            </a:pPr>
            <a:r>
              <a:t>P3: ¿CUÁNTO CUESTA Y QUIÉN PAGA EL GAS?</a:t>
            </a:r>
          </a:p>
          <a:p>
            <a:pPr>
              <a:spcBef>
                <a:spcPts val="600"/>
              </a:spcBef>
              <a:defRPr sz="1150">
                <a:solidFill>
                  <a:srgbClr val="F0F7FB"/>
                </a:solidFill>
                <a:latin typeface="IBM Plex Mono"/>
              </a:defRPr>
            </a:pPr>
            <a:r>
              <a:t>Respuesta: Fracciones de centavo. En onboarding, Authory subsidia las transacciones con cuentas operativas para usuarios Web2; en fase avanzada cada usuario o agencia firma con su propia wallet.</a:t>
            </a:r>
          </a:p>
        </p:txBody>
      </p:sp>
      <p:sp>
        <p:nvSpPr>
          <p:cNvPr id="11" name="Rectangle 10"/>
          <p:cNvSpPr/>
          <p:nvPr/>
        </p:nvSpPr>
        <p:spPr>
          <a:xfrm>
            <a:off x="6248095" y="3931920"/>
            <a:ext cx="5212080" cy="2011680"/>
          </a:xfrm>
          <a:prstGeom prst="rect">
            <a:avLst/>
          </a:prstGeom>
          <a:solidFill>
            <a:srgbClr val="113459"/>
          </a:solidFill>
          <a:ln w="2540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0975" y="4069080"/>
            <a:ext cx="4846320" cy="1737360"/>
          </a:xfrm>
          <a:prstGeom prst="rect">
            <a:avLst/>
          </a:prstGeom>
          <a:noFill/>
        </p:spPr>
        <p:txBody>
          <a:bodyPr wrap="square">
            <a:spAutoFit/>
          </a:bodyPr>
          <a:lstStyle/>
          <a:p>
            <a:pPr>
              <a:defRPr sz="1100" b="1">
                <a:solidFill>
                  <a:srgbClr val="38D39F"/>
                </a:solidFill>
                <a:latin typeface="IBM Plex Mono"/>
              </a:defRPr>
            </a:pPr>
            <a:r>
              <a:t>P4: ¿CÓMO SE PROTEGE EL ARCHIVO ORIGINAL?</a:t>
            </a:r>
          </a:p>
          <a:p>
            <a:pPr>
              <a:spcBef>
                <a:spcPts val="600"/>
              </a:spcBef>
              <a:defRPr sz="1150">
                <a:solidFill>
                  <a:srgbClr val="F0F7FB"/>
                </a:solidFill>
                <a:latin typeface="IBM Plex Mono"/>
              </a:defRPr>
            </a:pPr>
            <a:r>
              <a:t>Respuesta: El archivo nunca sube a la red. La Web Crypto API calcula el hash SHA-256 en RAM. Es matemáticamente imposible reconstruir el archivo desde el hash; la privacidad es 100% off-chain.</a:t>
            </a:r>
          </a:p>
        </p:txBody>
      </p:sp>
      <p:sp>
        <p:nvSpPr>
          <p:cNvPr id="13" name="Rectangle 12"/>
          <p:cNvSpPr/>
          <p:nvPr/>
        </p:nvSpPr>
        <p:spPr>
          <a:xfrm>
            <a:off x="731520" y="6236208"/>
            <a:ext cx="10728655" cy="18288"/>
          </a:xfrm>
          <a:prstGeom prst="rect">
            <a:avLst/>
          </a:prstGeom>
          <a:solidFill>
            <a:srgbClr val="1A4975"/>
          </a:solidFill>
          <a:ln>
            <a:solidFill>
              <a:srgbClr val="1A49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09360"/>
            <a:ext cx="7772400" cy="320040"/>
          </a:xfrm>
          <a:prstGeom prst="rect">
            <a:avLst/>
          </a:prstGeom>
          <a:noFill/>
        </p:spPr>
        <p:txBody>
          <a:bodyPr wrap="square" lIns="0" tIns="0" rIns="0" bIns="0">
            <a:spAutoFit/>
          </a:bodyPr>
          <a:lstStyle/>
          <a:p>
            <a:pPr>
              <a:defRPr sz="1100">
                <a:solidFill>
                  <a:srgbClr val="8FB6D3"/>
                </a:solidFill>
                <a:latin typeface="IBM Plex Mono"/>
              </a:defRPr>
            </a:pPr>
            <a:r>
              <a:t>CIERRE DEL DEMO DAY · PROYECTO FINALISTA #1 DE MÉXICO · STELLAR × BAF</a:t>
            </a:r>
          </a:p>
        </p:txBody>
      </p:sp>
      <p:sp>
        <p:nvSpPr>
          <p:cNvPr id="15" name="TextBox 14"/>
          <p:cNvSpPr txBox="1"/>
          <p:nvPr/>
        </p:nvSpPr>
        <p:spPr>
          <a:xfrm>
            <a:off x="8686800" y="6309360"/>
            <a:ext cx="2773375" cy="320040"/>
          </a:xfrm>
          <a:prstGeom prst="rect">
            <a:avLst/>
          </a:prstGeom>
          <a:noFill/>
        </p:spPr>
        <p:txBody>
          <a:bodyPr wrap="square" lIns="0" tIns="0" rIns="0" bIns="0">
            <a:spAutoFit/>
          </a:bodyPr>
          <a:lstStyle/>
          <a:p>
            <a:pPr algn="r">
              <a:defRPr sz="1100" b="1">
                <a:solidFill>
                  <a:srgbClr val="72E0ED"/>
                </a:solidFill>
                <a:latin typeface="IBM Plex Mono"/>
              </a:defRPr>
            </a:pPr>
            <a:r>
              <a:t>5:00 - 7:00 (2:00 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